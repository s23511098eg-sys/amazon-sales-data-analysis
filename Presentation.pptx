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dam Script Bold" charset="1" panose="00000800000000000000"/>
      <p:regular r:id="rId18"/>
    </p:embeddedFont>
    <p:embeddedFont>
      <p:font typeface="Amiri Bold Italics" charset="1" panose="00000500000000000000"/>
      <p:regular r:id="rId19"/>
    </p:embeddedFont>
    <p:embeddedFont>
      <p:font typeface="Amiri" charset="1" panose="00000500000000000000"/>
      <p:regular r:id="rId20"/>
    </p:embeddedFont>
    <p:embeddedFont>
      <p:font typeface="Amiri Bold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13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E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92953" y="8676294"/>
            <a:ext cx="3371711" cy="582006"/>
            <a:chOff x="0" y="0"/>
            <a:chExt cx="888023" cy="1532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8023" cy="153286"/>
            </a:xfrm>
            <a:custGeom>
              <a:avLst/>
              <a:gdLst/>
              <a:ahLst/>
              <a:cxnLst/>
              <a:rect r="r" b="b" t="t" l="l"/>
              <a:pathLst>
                <a:path h="153286" w="888023">
                  <a:moveTo>
                    <a:pt x="76643" y="0"/>
                  </a:moveTo>
                  <a:lnTo>
                    <a:pt x="811380" y="0"/>
                  </a:lnTo>
                  <a:cubicBezTo>
                    <a:pt x="831707" y="0"/>
                    <a:pt x="851201" y="8075"/>
                    <a:pt x="865575" y="22448"/>
                  </a:cubicBezTo>
                  <a:cubicBezTo>
                    <a:pt x="879948" y="36821"/>
                    <a:pt x="888023" y="56316"/>
                    <a:pt x="888023" y="76643"/>
                  </a:cubicBezTo>
                  <a:lnTo>
                    <a:pt x="888023" y="76643"/>
                  </a:lnTo>
                  <a:cubicBezTo>
                    <a:pt x="888023" y="118971"/>
                    <a:pt x="853709" y="153286"/>
                    <a:pt x="811380" y="153286"/>
                  </a:cubicBezTo>
                  <a:lnTo>
                    <a:pt x="76643" y="153286"/>
                  </a:lnTo>
                  <a:cubicBezTo>
                    <a:pt x="34314" y="153286"/>
                    <a:pt x="0" y="118971"/>
                    <a:pt x="0" y="76643"/>
                  </a:cubicBezTo>
                  <a:lnTo>
                    <a:pt x="0" y="76643"/>
                  </a:lnTo>
                  <a:cubicBezTo>
                    <a:pt x="0" y="34314"/>
                    <a:pt x="34314" y="0"/>
                    <a:pt x="76643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888023" cy="124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b="true" sz="2100" spc="-94">
                  <a:solidFill>
                    <a:srgbClr val="071128"/>
                  </a:solidFill>
                  <a:latin typeface="Adam Script Bold"/>
                  <a:ea typeface="Adam Script Bold"/>
                  <a:cs typeface="Adam Script Bold"/>
                  <a:sym typeface="Adam Script Bold"/>
                </a:rPr>
                <a:t>by : Sarah Saeed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00131" y="2239356"/>
            <a:ext cx="10882139" cy="564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68"/>
              </a:lnSpc>
            </a:pPr>
            <a:r>
              <a:rPr lang="en-US" b="true" sz="17400" i="true" spc="-783">
                <a:solidFill>
                  <a:srgbClr val="F1F1F1"/>
                </a:solidFill>
                <a:latin typeface="Amiri Bold Italics"/>
                <a:ea typeface="Amiri Bold Italics"/>
                <a:cs typeface="Amiri Bold Italics"/>
                <a:sym typeface="Amiri Bold Italics"/>
              </a:rPr>
              <a:t>Amazon Sales Data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27240" y="3863374"/>
            <a:ext cx="5132862" cy="295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3330" spc="-149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Tools Used </a:t>
            </a:r>
          </a:p>
          <a:p>
            <a:pPr algn="l" marL="719104" indent="-359552" lvl="1">
              <a:lnSpc>
                <a:spcPts val="3330"/>
              </a:lnSpc>
              <a:buFont typeface="Arial"/>
              <a:buChar char="•"/>
            </a:pPr>
            <a:r>
              <a:rPr lang="en-US" sz="3330" spc="-149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Python</a:t>
            </a:r>
          </a:p>
          <a:p>
            <a:pPr algn="l" marL="719104" indent="-359552" lvl="1">
              <a:lnSpc>
                <a:spcPts val="3330"/>
              </a:lnSpc>
              <a:buFont typeface="Arial"/>
              <a:buChar char="•"/>
            </a:pPr>
            <a:r>
              <a:rPr lang="en-US" sz="3330" spc="-149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Pandas</a:t>
            </a:r>
          </a:p>
          <a:p>
            <a:pPr algn="l" marL="719104" indent="-359552" lvl="1">
              <a:lnSpc>
                <a:spcPts val="3330"/>
              </a:lnSpc>
              <a:buFont typeface="Arial"/>
              <a:buChar char="•"/>
            </a:pPr>
            <a:r>
              <a:rPr lang="en-US" sz="3330" spc="-149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Plotly</a:t>
            </a:r>
          </a:p>
          <a:p>
            <a:pPr algn="l" marL="719104" indent="-359552" lvl="1">
              <a:lnSpc>
                <a:spcPts val="3330"/>
              </a:lnSpc>
              <a:buFont typeface="Arial"/>
              <a:buChar char="•"/>
            </a:pPr>
            <a:r>
              <a:rPr lang="en-US" sz="3330" spc="-149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Streamlit</a:t>
            </a:r>
          </a:p>
          <a:p>
            <a:pPr algn="l" marL="719104" indent="-359552" lvl="1">
              <a:lnSpc>
                <a:spcPts val="3330"/>
              </a:lnSpc>
              <a:buFont typeface="Arial"/>
              <a:buChar char="•"/>
            </a:pPr>
            <a:r>
              <a:rPr lang="en-US" sz="3330" spc="-149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Jupyter Notebook</a:t>
            </a:r>
          </a:p>
          <a:p>
            <a:pPr algn="l">
              <a:lnSpc>
                <a:spcPts val="333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7866" y="4845404"/>
            <a:ext cx="953004" cy="9530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12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77891" y="4854929"/>
            <a:ext cx="953004" cy="9530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12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84848" y="4864454"/>
            <a:ext cx="953004" cy="95300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12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20536" y="4873979"/>
            <a:ext cx="953004" cy="95300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12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07864" y="4845404"/>
            <a:ext cx="953004" cy="95300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12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542833" y="5331431"/>
            <a:ext cx="2187434" cy="0"/>
          </a:xfrm>
          <a:prstGeom prst="line">
            <a:avLst/>
          </a:prstGeom>
          <a:ln cap="flat" w="19050">
            <a:solidFill>
              <a:srgbClr val="042EA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>
            <a:off x="4849790" y="5340956"/>
            <a:ext cx="2187434" cy="0"/>
          </a:xfrm>
          <a:prstGeom prst="line">
            <a:avLst/>
          </a:prstGeom>
          <a:ln cap="flat" w="19050">
            <a:solidFill>
              <a:srgbClr val="042EA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1" id="21"/>
          <p:cNvSpPr/>
          <p:nvPr/>
        </p:nvSpPr>
        <p:spPr>
          <a:xfrm>
            <a:off x="8085477" y="5350481"/>
            <a:ext cx="2187434" cy="0"/>
          </a:xfrm>
          <a:prstGeom prst="line">
            <a:avLst/>
          </a:prstGeom>
          <a:ln cap="flat" w="19050">
            <a:solidFill>
              <a:srgbClr val="042EA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2" id="22"/>
          <p:cNvSpPr/>
          <p:nvPr/>
        </p:nvSpPr>
        <p:spPr>
          <a:xfrm>
            <a:off x="11506131" y="5360006"/>
            <a:ext cx="2187434" cy="0"/>
          </a:xfrm>
          <a:prstGeom prst="line">
            <a:avLst/>
          </a:prstGeom>
          <a:ln cap="flat" w="19050">
            <a:solidFill>
              <a:srgbClr val="042EA2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17097206" y="4835879"/>
            <a:ext cx="953004" cy="95300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7112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4795472" y="5312381"/>
            <a:ext cx="2187434" cy="0"/>
          </a:xfrm>
          <a:prstGeom prst="line">
            <a:avLst/>
          </a:prstGeom>
          <a:ln cap="flat" w="19050">
            <a:solidFill>
              <a:srgbClr val="042EA2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763874" y="4955005"/>
            <a:ext cx="550359" cy="714752"/>
          </a:xfrm>
          <a:custGeom>
            <a:avLst/>
            <a:gdLst/>
            <a:ahLst/>
            <a:cxnLst/>
            <a:rect r="r" b="b" t="t" l="l"/>
            <a:pathLst>
              <a:path h="714752" w="550359">
                <a:moveTo>
                  <a:pt x="0" y="0"/>
                </a:moveTo>
                <a:lnTo>
                  <a:pt x="550359" y="0"/>
                </a:lnTo>
                <a:lnTo>
                  <a:pt x="550359" y="714752"/>
                </a:lnTo>
                <a:lnTo>
                  <a:pt x="0" y="714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047339" y="5008756"/>
            <a:ext cx="573851" cy="607250"/>
          </a:xfrm>
          <a:custGeom>
            <a:avLst/>
            <a:gdLst/>
            <a:ahLst/>
            <a:cxnLst/>
            <a:rect r="r" b="b" t="t" l="l"/>
            <a:pathLst>
              <a:path h="607250" w="573851">
                <a:moveTo>
                  <a:pt x="0" y="0"/>
                </a:moveTo>
                <a:lnTo>
                  <a:pt x="573851" y="0"/>
                </a:lnTo>
                <a:lnTo>
                  <a:pt x="573851" y="607250"/>
                </a:lnTo>
                <a:lnTo>
                  <a:pt x="0" y="60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223674" y="4974705"/>
            <a:ext cx="675352" cy="675352"/>
          </a:xfrm>
          <a:custGeom>
            <a:avLst/>
            <a:gdLst/>
            <a:ahLst/>
            <a:cxnLst/>
            <a:rect r="r" b="b" t="t" l="l"/>
            <a:pathLst>
              <a:path h="675352" w="675352">
                <a:moveTo>
                  <a:pt x="0" y="0"/>
                </a:moveTo>
                <a:lnTo>
                  <a:pt x="675352" y="0"/>
                </a:lnTo>
                <a:lnTo>
                  <a:pt x="675352" y="675352"/>
                </a:lnTo>
                <a:lnTo>
                  <a:pt x="0" y="675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55951" y="4955005"/>
            <a:ext cx="682174" cy="675352"/>
          </a:xfrm>
          <a:custGeom>
            <a:avLst/>
            <a:gdLst/>
            <a:ahLst/>
            <a:cxnLst/>
            <a:rect r="r" b="b" t="t" l="l"/>
            <a:pathLst>
              <a:path h="675352" w="682174">
                <a:moveTo>
                  <a:pt x="0" y="0"/>
                </a:moveTo>
                <a:lnTo>
                  <a:pt x="682174" y="0"/>
                </a:lnTo>
                <a:lnTo>
                  <a:pt x="682174" y="675352"/>
                </a:lnTo>
                <a:lnTo>
                  <a:pt x="0" y="675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007889" y="4983525"/>
            <a:ext cx="707713" cy="714861"/>
          </a:xfrm>
          <a:custGeom>
            <a:avLst/>
            <a:gdLst/>
            <a:ahLst/>
            <a:cxnLst/>
            <a:rect r="r" b="b" t="t" l="l"/>
            <a:pathLst>
              <a:path h="714861" w="707713">
                <a:moveTo>
                  <a:pt x="0" y="0"/>
                </a:moveTo>
                <a:lnTo>
                  <a:pt x="707713" y="0"/>
                </a:lnTo>
                <a:lnTo>
                  <a:pt x="707713" y="714862"/>
                </a:lnTo>
                <a:lnTo>
                  <a:pt x="0" y="714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7163881" y="4954845"/>
            <a:ext cx="726550" cy="661160"/>
          </a:xfrm>
          <a:custGeom>
            <a:avLst/>
            <a:gdLst/>
            <a:ahLst/>
            <a:cxnLst/>
            <a:rect r="r" b="b" t="t" l="l"/>
            <a:pathLst>
              <a:path h="661160" w="726550">
                <a:moveTo>
                  <a:pt x="0" y="0"/>
                </a:moveTo>
                <a:lnTo>
                  <a:pt x="726550" y="0"/>
                </a:lnTo>
                <a:lnTo>
                  <a:pt x="726550" y="661161"/>
                </a:lnTo>
                <a:lnTo>
                  <a:pt x="0" y="6611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30312" y="1644019"/>
            <a:ext cx="8213688" cy="9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4"/>
              </a:lnSpc>
              <a:spcBef>
                <a:spcPct val="0"/>
              </a:spcBef>
            </a:pPr>
            <a:r>
              <a:rPr lang="en-US" b="true" sz="7915" spc="-356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P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ro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j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e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ct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 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W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or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kf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lo</a:t>
            </a:r>
            <a:r>
              <a:rPr lang="en-US" b="true" sz="7915" spc="-356" strike="noStrike" u="non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228" y="6008210"/>
            <a:ext cx="173694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Da</a:t>
            </a: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ta Understanding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89454" y="6141560"/>
            <a:ext cx="172987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Data Cleaning</a:t>
            </a: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50950" y="6008210"/>
            <a:ext cx="172987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Feature</a:t>
            </a: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 Engineering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76253" y="6086675"/>
            <a:ext cx="172987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Expl</a:t>
            </a: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oratory Data Analysis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07802" y="6141560"/>
            <a:ext cx="172987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Bus</a:t>
            </a: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iness Insights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58122" y="6008210"/>
            <a:ext cx="172987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I</a:t>
            </a:r>
            <a:r>
              <a:rPr lang="en-US" b="true" sz="1800" spc="-81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E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068411"/>
            <a:ext cx="3501597" cy="2694804"/>
            <a:chOff x="0" y="0"/>
            <a:chExt cx="1341609" cy="10324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1609" cy="1032493"/>
            </a:xfrm>
            <a:custGeom>
              <a:avLst/>
              <a:gdLst/>
              <a:ahLst/>
              <a:cxnLst/>
              <a:rect r="r" b="b" t="t" l="l"/>
              <a:pathLst>
                <a:path h="1032493" w="1341609">
                  <a:moveTo>
                    <a:pt x="1341609" y="516247"/>
                  </a:moveTo>
                  <a:lnTo>
                    <a:pt x="935209" y="0"/>
                  </a:lnTo>
                  <a:lnTo>
                    <a:pt x="935209" y="203200"/>
                  </a:lnTo>
                  <a:lnTo>
                    <a:pt x="0" y="203200"/>
                  </a:lnTo>
                  <a:lnTo>
                    <a:pt x="0" y="829293"/>
                  </a:lnTo>
                  <a:lnTo>
                    <a:pt x="935209" y="829293"/>
                  </a:lnTo>
                  <a:lnTo>
                    <a:pt x="935209" y="1032493"/>
                  </a:lnTo>
                  <a:lnTo>
                    <a:pt x="1341609" y="516247"/>
                  </a:lnTo>
                  <a:close/>
                </a:path>
              </a:pathLst>
            </a:custGeom>
            <a:solidFill>
              <a:srgbClr val="07112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60350"/>
              <a:ext cx="1240009" cy="568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2799" spc="-125">
                  <a:solidFill>
                    <a:srgbClr val="FFFFFF"/>
                  </a:solidFill>
                  <a:latin typeface="Amiri Bold"/>
                  <a:ea typeface="Amiri Bold"/>
                  <a:cs typeface="Amiri Bold"/>
                  <a:sym typeface="Amiri Bold"/>
                </a:rPr>
                <a:t>Column Names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77611" y="5280525"/>
            <a:ext cx="3281434" cy="771837"/>
            <a:chOff x="0" y="0"/>
            <a:chExt cx="864246" cy="2032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574011" y="5485468"/>
            <a:ext cx="273899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08" b="tru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Order ID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677611" y="6526717"/>
            <a:ext cx="3281434" cy="771837"/>
            <a:chOff x="0" y="0"/>
            <a:chExt cx="864246" cy="2032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77611" y="8060405"/>
            <a:ext cx="3281434" cy="771837"/>
            <a:chOff x="0" y="0"/>
            <a:chExt cx="864246" cy="2032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131808" y="8060405"/>
            <a:ext cx="3281434" cy="771837"/>
            <a:chOff x="0" y="0"/>
            <a:chExt cx="864246" cy="2032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47625"/>
              <a:ext cx="864246" cy="155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84692" y="8060405"/>
            <a:ext cx="3281434" cy="771837"/>
            <a:chOff x="0" y="0"/>
            <a:chExt cx="864246" cy="2032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130494" y="6526717"/>
            <a:ext cx="3281434" cy="771837"/>
            <a:chOff x="0" y="0"/>
            <a:chExt cx="864246" cy="2032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57150"/>
              <a:ext cx="864246" cy="146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31808" y="5280525"/>
            <a:ext cx="3281434" cy="771837"/>
            <a:chOff x="0" y="0"/>
            <a:chExt cx="864246" cy="2032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47625"/>
              <a:ext cx="864246" cy="155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584692" y="5314838"/>
            <a:ext cx="3281434" cy="771837"/>
            <a:chOff x="0" y="0"/>
            <a:chExt cx="864246" cy="2032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83378" y="6526717"/>
            <a:ext cx="3281434" cy="771837"/>
            <a:chOff x="0" y="0"/>
            <a:chExt cx="864246" cy="20328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037575" y="5314838"/>
            <a:ext cx="3281434" cy="771837"/>
            <a:chOff x="0" y="0"/>
            <a:chExt cx="864246" cy="2032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037575" y="6526717"/>
            <a:ext cx="3281434" cy="771837"/>
            <a:chOff x="0" y="0"/>
            <a:chExt cx="864246" cy="20328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037575" y="8060405"/>
            <a:ext cx="3281434" cy="771837"/>
            <a:chOff x="0" y="0"/>
            <a:chExt cx="864246" cy="20328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4246" cy="203282"/>
            </a:xfrm>
            <a:custGeom>
              <a:avLst/>
              <a:gdLst/>
              <a:ahLst/>
              <a:cxnLst/>
              <a:rect r="r" b="b" t="t" l="l"/>
              <a:pathLst>
                <a:path h="203282" w="864246">
                  <a:moveTo>
                    <a:pt x="82576" y="0"/>
                  </a:moveTo>
                  <a:lnTo>
                    <a:pt x="781670" y="0"/>
                  </a:lnTo>
                  <a:cubicBezTo>
                    <a:pt x="827275" y="0"/>
                    <a:pt x="864246" y="36970"/>
                    <a:pt x="864246" y="82576"/>
                  </a:cubicBezTo>
                  <a:lnTo>
                    <a:pt x="864246" y="120706"/>
                  </a:lnTo>
                  <a:cubicBezTo>
                    <a:pt x="864246" y="142607"/>
                    <a:pt x="855546" y="163610"/>
                    <a:pt x="840060" y="179096"/>
                  </a:cubicBezTo>
                  <a:cubicBezTo>
                    <a:pt x="824574" y="194582"/>
                    <a:pt x="803571" y="203282"/>
                    <a:pt x="781670" y="203282"/>
                  </a:cubicBezTo>
                  <a:lnTo>
                    <a:pt x="82576" y="203282"/>
                  </a:lnTo>
                  <a:cubicBezTo>
                    <a:pt x="60675" y="203282"/>
                    <a:pt x="39672" y="194582"/>
                    <a:pt x="24186" y="179096"/>
                  </a:cubicBezTo>
                  <a:cubicBezTo>
                    <a:pt x="8700" y="163610"/>
                    <a:pt x="0" y="142607"/>
                    <a:pt x="0" y="120706"/>
                  </a:cubicBezTo>
                  <a:lnTo>
                    <a:pt x="0" y="82576"/>
                  </a:lnTo>
                  <a:cubicBezTo>
                    <a:pt x="0" y="60675"/>
                    <a:pt x="8700" y="39672"/>
                    <a:pt x="24186" y="24186"/>
                  </a:cubicBezTo>
                  <a:cubicBezTo>
                    <a:pt x="39672" y="8700"/>
                    <a:pt x="60675" y="0"/>
                    <a:pt x="825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38100"/>
              <a:ext cx="864246" cy="16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aphicFrame>
        <p:nvGraphicFramePr>
          <p:cNvPr name="Object 43" id="43"/>
          <p:cNvGraphicFramePr/>
          <p:nvPr/>
        </p:nvGraphicFramePr>
        <p:xfrm>
          <a:off x="11059791" y="6598310"/>
          <a:ext cx="3771900" cy="628650"/>
        </p:xfrm>
        <a:graphic>
          <a:graphicData uri="http://schemas.openxmlformats.org/presentationml/2006/ole">
            <p:oleObj imgW="4521200" imgH="13716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4" id="44"/>
          <p:cNvSpPr/>
          <p:nvPr/>
        </p:nvSpPr>
        <p:spPr>
          <a:xfrm flipH="false" flipV="false" rot="0">
            <a:off x="14719331" y="0"/>
            <a:ext cx="3568669" cy="5153356"/>
          </a:xfrm>
          <a:custGeom>
            <a:avLst/>
            <a:gdLst/>
            <a:ahLst/>
            <a:cxnLst/>
            <a:rect r="r" b="b" t="t" l="l"/>
            <a:pathLst>
              <a:path h="5153356" w="3568669">
                <a:moveTo>
                  <a:pt x="0" y="0"/>
                </a:moveTo>
                <a:lnTo>
                  <a:pt x="3568669" y="0"/>
                </a:lnTo>
                <a:lnTo>
                  <a:pt x="3568669" y="5153356"/>
                </a:lnTo>
                <a:lnTo>
                  <a:pt x="0" y="51533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339" r="0" b="-10945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380191" y="1952120"/>
            <a:ext cx="8089458" cy="9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4"/>
              </a:lnSpc>
              <a:spcBef>
                <a:spcPct val="0"/>
              </a:spcBef>
            </a:pPr>
            <a:r>
              <a:rPr lang="en-US" b="true" sz="7915" spc="-356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Data Understanding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22502" y="3458686"/>
            <a:ext cx="529423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08" b="tru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Number of Rows : 128975</a:t>
            </a:r>
          </a:p>
          <a:p>
            <a:pPr algn="l">
              <a:lnSpc>
                <a:spcPts val="2879"/>
              </a:lnSpc>
            </a:pPr>
            <a:r>
              <a:rPr lang="en-US" sz="2400" spc="-108" b="tru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Number of Columns : 22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677611" y="6791668"/>
            <a:ext cx="3281434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Date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677611" y="8343454"/>
            <a:ext cx="3281434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Status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584692" y="5570264"/>
            <a:ext cx="3281434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2399" spc="-107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Courier Status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131808" y="5579789"/>
            <a:ext cx="3281434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Category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131808" y="6843420"/>
            <a:ext cx="3281434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Qty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130494" y="8343454"/>
            <a:ext cx="3281434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b="true" sz="2599" spc="-116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Amount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584692" y="8343454"/>
            <a:ext cx="3281434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b="true" sz="2599" spc="-116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ship-state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037575" y="5615984"/>
            <a:ext cx="3281434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b="true" sz="2599" spc="-116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Sales Channel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036261" y="6895172"/>
            <a:ext cx="3281434" cy="37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9"/>
              </a:lnSpc>
              <a:spcBef>
                <a:spcPct val="0"/>
              </a:spcBef>
            </a:pPr>
            <a:r>
              <a:rPr lang="en-US" b="true" sz="2899" spc="-130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Fulfilment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977866" y="8343454"/>
            <a:ext cx="3281434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B2B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0" y="0"/>
            <a:ext cx="1028700" cy="1335974"/>
          </a:xfrm>
          <a:custGeom>
            <a:avLst/>
            <a:gdLst/>
            <a:ahLst/>
            <a:cxnLst/>
            <a:rect r="r" b="b" t="t" l="l"/>
            <a:pathLst>
              <a:path h="1335974" w="1028700">
                <a:moveTo>
                  <a:pt x="0" y="0"/>
                </a:moveTo>
                <a:lnTo>
                  <a:pt x="1028700" y="0"/>
                </a:lnTo>
                <a:lnTo>
                  <a:pt x="1028700" y="1335974"/>
                </a:lnTo>
                <a:lnTo>
                  <a:pt x="0" y="1335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22058"/>
            <a:ext cx="5276552" cy="85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25"/>
              </a:lnSpc>
              <a:spcBef>
                <a:spcPct val="0"/>
              </a:spcBef>
            </a:pPr>
            <a:r>
              <a:rPr lang="en-US" b="true" sz="6917" spc="-311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Da</a:t>
            </a:r>
            <a:r>
              <a:rPr lang="en-US" b="true" sz="6917" spc="-311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t</a:t>
            </a:r>
            <a:r>
              <a:rPr lang="en-US" b="true" sz="6917" spc="-311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a</a:t>
            </a:r>
            <a:r>
              <a:rPr lang="en-US" b="true" sz="6917" spc="-311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 </a:t>
            </a:r>
            <a:r>
              <a:rPr lang="en-US" b="true" sz="6917" spc="-311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Cl</a:t>
            </a:r>
            <a:r>
              <a:rPr lang="en-US" b="true" sz="6917" spc="-311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ea</a:t>
            </a:r>
            <a:r>
              <a:rPr lang="en-US" b="true" sz="6917" spc="-311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n</a:t>
            </a:r>
            <a:r>
              <a:rPr lang="en-US" b="true" sz="6917" spc="-311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i</a:t>
            </a:r>
            <a:r>
              <a:rPr lang="en-US" b="true" sz="6917" spc="-311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89546" y="1116166"/>
            <a:ext cx="3052823" cy="8426143"/>
            <a:chOff x="0" y="0"/>
            <a:chExt cx="1128415" cy="31145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8415" cy="3114555"/>
            </a:xfrm>
            <a:custGeom>
              <a:avLst/>
              <a:gdLst/>
              <a:ahLst/>
              <a:cxnLst/>
              <a:rect r="r" b="b" t="t" l="l"/>
              <a:pathLst>
                <a:path h="3114555" w="1128415">
                  <a:moveTo>
                    <a:pt x="76080" y="0"/>
                  </a:moveTo>
                  <a:lnTo>
                    <a:pt x="1052335" y="0"/>
                  </a:lnTo>
                  <a:cubicBezTo>
                    <a:pt x="1094353" y="0"/>
                    <a:pt x="1128415" y="34062"/>
                    <a:pt x="1128415" y="76080"/>
                  </a:cubicBezTo>
                  <a:lnTo>
                    <a:pt x="1128415" y="3038475"/>
                  </a:lnTo>
                  <a:cubicBezTo>
                    <a:pt x="1128415" y="3080493"/>
                    <a:pt x="1094353" y="3114555"/>
                    <a:pt x="1052335" y="3114555"/>
                  </a:cubicBezTo>
                  <a:lnTo>
                    <a:pt x="76080" y="3114555"/>
                  </a:lnTo>
                  <a:cubicBezTo>
                    <a:pt x="34062" y="3114555"/>
                    <a:pt x="0" y="3080493"/>
                    <a:pt x="0" y="3038475"/>
                  </a:cubicBezTo>
                  <a:lnTo>
                    <a:pt x="0" y="76080"/>
                  </a:lnTo>
                  <a:cubicBezTo>
                    <a:pt x="0" y="34062"/>
                    <a:pt x="34062" y="0"/>
                    <a:pt x="7608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5" r="0" b="-11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189" y="1809281"/>
            <a:ext cx="10738560" cy="1643332"/>
            <a:chOff x="0" y="0"/>
            <a:chExt cx="3969293" cy="6074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69293" cy="607425"/>
            </a:xfrm>
            <a:custGeom>
              <a:avLst/>
              <a:gdLst/>
              <a:ahLst/>
              <a:cxnLst/>
              <a:rect r="r" b="b" t="t" l="l"/>
              <a:pathLst>
                <a:path h="607425" w="3969293">
                  <a:moveTo>
                    <a:pt x="21628" y="0"/>
                  </a:moveTo>
                  <a:lnTo>
                    <a:pt x="3947665" y="0"/>
                  </a:lnTo>
                  <a:cubicBezTo>
                    <a:pt x="3959610" y="0"/>
                    <a:pt x="3969293" y="9683"/>
                    <a:pt x="3969293" y="21628"/>
                  </a:cubicBezTo>
                  <a:lnTo>
                    <a:pt x="3969293" y="585796"/>
                  </a:lnTo>
                  <a:cubicBezTo>
                    <a:pt x="3969293" y="591533"/>
                    <a:pt x="3967015" y="597034"/>
                    <a:pt x="3962958" y="601090"/>
                  </a:cubicBezTo>
                  <a:cubicBezTo>
                    <a:pt x="3958903" y="605146"/>
                    <a:pt x="3953401" y="607425"/>
                    <a:pt x="3947665" y="607425"/>
                  </a:cubicBezTo>
                  <a:lnTo>
                    <a:pt x="21628" y="607425"/>
                  </a:lnTo>
                  <a:cubicBezTo>
                    <a:pt x="9683" y="607425"/>
                    <a:pt x="0" y="597741"/>
                    <a:pt x="0" y="585796"/>
                  </a:cubicBezTo>
                  <a:lnTo>
                    <a:pt x="0" y="21628"/>
                  </a:lnTo>
                  <a:cubicBezTo>
                    <a:pt x="0" y="15892"/>
                    <a:pt x="2279" y="10391"/>
                    <a:pt x="6335" y="6335"/>
                  </a:cubicBezTo>
                  <a:cubicBezTo>
                    <a:pt x="10391" y="2279"/>
                    <a:pt x="15892" y="0"/>
                    <a:pt x="2162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7853" r="0" b="-178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0189" y="5329238"/>
            <a:ext cx="10738560" cy="1514875"/>
            <a:chOff x="0" y="0"/>
            <a:chExt cx="3969293" cy="5599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69293" cy="559943"/>
            </a:xfrm>
            <a:custGeom>
              <a:avLst/>
              <a:gdLst/>
              <a:ahLst/>
              <a:cxnLst/>
              <a:rect r="r" b="b" t="t" l="l"/>
              <a:pathLst>
                <a:path h="559943" w="3969293">
                  <a:moveTo>
                    <a:pt x="21628" y="0"/>
                  </a:moveTo>
                  <a:lnTo>
                    <a:pt x="3947665" y="0"/>
                  </a:lnTo>
                  <a:cubicBezTo>
                    <a:pt x="3959610" y="0"/>
                    <a:pt x="3969293" y="9683"/>
                    <a:pt x="3969293" y="21628"/>
                  </a:cubicBezTo>
                  <a:lnTo>
                    <a:pt x="3969293" y="538315"/>
                  </a:lnTo>
                  <a:cubicBezTo>
                    <a:pt x="3969293" y="544051"/>
                    <a:pt x="3967015" y="549552"/>
                    <a:pt x="3962958" y="553608"/>
                  </a:cubicBezTo>
                  <a:cubicBezTo>
                    <a:pt x="3958903" y="557664"/>
                    <a:pt x="3953401" y="559943"/>
                    <a:pt x="3947665" y="559943"/>
                  </a:cubicBezTo>
                  <a:lnTo>
                    <a:pt x="21628" y="559943"/>
                  </a:lnTo>
                  <a:cubicBezTo>
                    <a:pt x="15892" y="559943"/>
                    <a:pt x="10391" y="557664"/>
                    <a:pt x="6335" y="553608"/>
                  </a:cubicBezTo>
                  <a:cubicBezTo>
                    <a:pt x="2279" y="549552"/>
                    <a:pt x="0" y="544051"/>
                    <a:pt x="0" y="538315"/>
                  </a:cubicBezTo>
                  <a:lnTo>
                    <a:pt x="0" y="21628"/>
                  </a:lnTo>
                  <a:cubicBezTo>
                    <a:pt x="0" y="15892"/>
                    <a:pt x="2279" y="10391"/>
                    <a:pt x="6335" y="6335"/>
                  </a:cubicBezTo>
                  <a:cubicBezTo>
                    <a:pt x="10391" y="2279"/>
                    <a:pt x="15892" y="0"/>
                    <a:pt x="2162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5964" r="0" b="-1596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117196" y="9887150"/>
            <a:ext cx="292517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94" b="tru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Removed missing values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69520" y="3684748"/>
            <a:ext cx="3821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94" b="tru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Convert</a:t>
            </a:r>
            <a:r>
              <a:rPr lang="en-US" b="true" sz="2100" spc="-94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ed Date column to datetime.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22898" y="7072712"/>
            <a:ext cx="343795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94" b="true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Rem</a:t>
            </a:r>
            <a:r>
              <a:rPr lang="en-US" b="true" sz="2100" spc="-94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oved unne</a:t>
            </a:r>
            <a:r>
              <a:rPr lang="en-US" b="true" sz="2100" spc="-94">
                <a:solidFill>
                  <a:srgbClr val="071128"/>
                </a:solidFill>
                <a:latin typeface="Amiri Bold"/>
                <a:ea typeface="Amiri Bold"/>
                <a:cs typeface="Amiri Bold"/>
                <a:sym typeface="Amiri Bold"/>
              </a:rPr>
              <a:t>cessary columns.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126988" y="9058416"/>
            <a:ext cx="1161012" cy="1228584"/>
          </a:xfrm>
          <a:custGeom>
            <a:avLst/>
            <a:gdLst/>
            <a:ahLst/>
            <a:cxnLst/>
            <a:rect r="r" b="b" t="t" l="l"/>
            <a:pathLst>
              <a:path h="1228584" w="1161012">
                <a:moveTo>
                  <a:pt x="0" y="0"/>
                </a:moveTo>
                <a:lnTo>
                  <a:pt x="1161012" y="0"/>
                </a:lnTo>
                <a:lnTo>
                  <a:pt x="1161012" y="1228584"/>
                </a:lnTo>
                <a:lnTo>
                  <a:pt x="0" y="12285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E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224266" cy="1224266"/>
          </a:xfrm>
          <a:custGeom>
            <a:avLst/>
            <a:gdLst/>
            <a:ahLst/>
            <a:cxnLst/>
            <a:rect r="r" b="b" t="t" l="l"/>
            <a:pathLst>
              <a:path h="1224266" w="1224266">
                <a:moveTo>
                  <a:pt x="0" y="0"/>
                </a:moveTo>
                <a:lnTo>
                  <a:pt x="1224266" y="0"/>
                </a:lnTo>
                <a:lnTo>
                  <a:pt x="1224266" y="1224266"/>
                </a:lnTo>
                <a:lnTo>
                  <a:pt x="0" y="122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48720" y="4523668"/>
            <a:ext cx="918881" cy="413496"/>
          </a:xfrm>
          <a:custGeom>
            <a:avLst/>
            <a:gdLst/>
            <a:ahLst/>
            <a:cxnLst/>
            <a:rect r="r" b="b" t="t" l="l"/>
            <a:pathLst>
              <a:path h="413496" w="918881">
                <a:moveTo>
                  <a:pt x="0" y="0"/>
                </a:moveTo>
                <a:lnTo>
                  <a:pt x="918881" y="0"/>
                </a:lnTo>
                <a:lnTo>
                  <a:pt x="918881" y="413496"/>
                </a:lnTo>
                <a:lnTo>
                  <a:pt x="0" y="413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93872" y="4915755"/>
            <a:ext cx="1158367" cy="370677"/>
          </a:xfrm>
          <a:custGeom>
            <a:avLst/>
            <a:gdLst/>
            <a:ahLst/>
            <a:cxnLst/>
            <a:rect r="r" b="b" t="t" l="l"/>
            <a:pathLst>
              <a:path h="370677" w="1158367">
                <a:moveTo>
                  <a:pt x="0" y="0"/>
                </a:moveTo>
                <a:lnTo>
                  <a:pt x="1158366" y="0"/>
                </a:lnTo>
                <a:lnTo>
                  <a:pt x="1158366" y="370677"/>
                </a:lnTo>
                <a:lnTo>
                  <a:pt x="0" y="370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43506" y="7258139"/>
            <a:ext cx="828025" cy="674840"/>
          </a:xfrm>
          <a:custGeom>
            <a:avLst/>
            <a:gdLst/>
            <a:ahLst/>
            <a:cxnLst/>
            <a:rect r="r" b="b" t="t" l="l"/>
            <a:pathLst>
              <a:path h="674840" w="828025">
                <a:moveTo>
                  <a:pt x="0" y="0"/>
                </a:moveTo>
                <a:lnTo>
                  <a:pt x="828025" y="0"/>
                </a:lnTo>
                <a:lnTo>
                  <a:pt x="828025" y="674840"/>
                </a:lnTo>
                <a:lnTo>
                  <a:pt x="0" y="6748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70134" y="7115471"/>
            <a:ext cx="923737" cy="817507"/>
          </a:xfrm>
          <a:custGeom>
            <a:avLst/>
            <a:gdLst/>
            <a:ahLst/>
            <a:cxnLst/>
            <a:rect r="r" b="b" t="t" l="l"/>
            <a:pathLst>
              <a:path h="817507" w="923737">
                <a:moveTo>
                  <a:pt x="0" y="0"/>
                </a:moveTo>
                <a:lnTo>
                  <a:pt x="923738" y="0"/>
                </a:lnTo>
                <a:lnTo>
                  <a:pt x="923738" y="817508"/>
                </a:lnTo>
                <a:lnTo>
                  <a:pt x="0" y="8175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048" y="1820311"/>
            <a:ext cx="7933965" cy="9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4"/>
              </a:lnSpc>
              <a:spcBef>
                <a:spcPct val="0"/>
              </a:spcBef>
            </a:pPr>
            <a:r>
              <a:rPr lang="en-US" b="true" sz="7915" spc="-356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Feat</a:t>
            </a:r>
            <a:r>
              <a:rPr lang="en-US" b="true" sz="7915" spc="-356" strike="noStrike" u="none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u</a:t>
            </a:r>
            <a:r>
              <a:rPr lang="en-US" b="true" sz="7915" spc="-356" strike="noStrike" u="none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r</a:t>
            </a:r>
            <a:r>
              <a:rPr lang="en-US" b="true" sz="7915" spc="-356" strike="noStrike" u="none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e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48" y="3037968"/>
            <a:ext cx="529503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509" spc="-112" b="true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These features help analyze sales trends over 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8720" y="5110619"/>
            <a:ext cx="3641121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b="true" sz="5999" spc="-269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Month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93872" y="5110619"/>
            <a:ext cx="417676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b="true" sz="5999" spc="-269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Year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83866" y="7942504"/>
            <a:ext cx="437082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b="true" sz="5999" spc="-269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Day Name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48258" y="7725136"/>
            <a:ext cx="4614791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b="true" sz="5999" spc="-269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Sales Per Item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82840" y="1515172"/>
            <a:ext cx="2691696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spc="-94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Our Team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09350"/>
            <a:ext cx="5943506" cy="56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4"/>
              </a:lnSpc>
              <a:spcBef>
                <a:spcPct val="0"/>
              </a:spcBef>
            </a:pPr>
            <a:r>
              <a:rPr lang="en-US" b="true" sz="4515" spc="-203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Explora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t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ory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 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Da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t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a 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Analysis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10608" y="1344647"/>
            <a:ext cx="7667771" cy="2855678"/>
            <a:chOff x="0" y="0"/>
            <a:chExt cx="2834238" cy="10555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34238" cy="1055544"/>
            </a:xfrm>
            <a:custGeom>
              <a:avLst/>
              <a:gdLst/>
              <a:ahLst/>
              <a:cxnLst/>
              <a:rect r="r" b="b" t="t" l="l"/>
              <a:pathLst>
                <a:path h="1055544" w="2834238">
                  <a:moveTo>
                    <a:pt x="30290" y="0"/>
                  </a:moveTo>
                  <a:lnTo>
                    <a:pt x="2803948" y="0"/>
                  </a:lnTo>
                  <a:cubicBezTo>
                    <a:pt x="2820676" y="0"/>
                    <a:pt x="2834238" y="13561"/>
                    <a:pt x="2834238" y="30290"/>
                  </a:cubicBezTo>
                  <a:lnTo>
                    <a:pt x="2834238" y="1025254"/>
                  </a:lnTo>
                  <a:cubicBezTo>
                    <a:pt x="2834238" y="1033287"/>
                    <a:pt x="2831046" y="1040992"/>
                    <a:pt x="2825366" y="1046672"/>
                  </a:cubicBezTo>
                  <a:cubicBezTo>
                    <a:pt x="2819685" y="1052353"/>
                    <a:pt x="2811981" y="1055544"/>
                    <a:pt x="2803948" y="1055544"/>
                  </a:cubicBezTo>
                  <a:lnTo>
                    <a:pt x="30290" y="1055544"/>
                  </a:lnTo>
                  <a:cubicBezTo>
                    <a:pt x="22257" y="1055544"/>
                    <a:pt x="14552" y="1052353"/>
                    <a:pt x="8872" y="1046672"/>
                  </a:cubicBezTo>
                  <a:cubicBezTo>
                    <a:pt x="3191" y="1040992"/>
                    <a:pt x="0" y="1033287"/>
                    <a:pt x="0" y="1025254"/>
                  </a:cubicBezTo>
                  <a:lnTo>
                    <a:pt x="0" y="30290"/>
                  </a:lnTo>
                  <a:cubicBezTo>
                    <a:pt x="0" y="22257"/>
                    <a:pt x="3191" y="14552"/>
                    <a:pt x="8872" y="8872"/>
                  </a:cubicBezTo>
                  <a:cubicBezTo>
                    <a:pt x="14552" y="3191"/>
                    <a:pt x="22257" y="0"/>
                    <a:pt x="302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4" r="0" b="-28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344647"/>
            <a:ext cx="7667771" cy="2855678"/>
            <a:chOff x="0" y="0"/>
            <a:chExt cx="2834238" cy="10555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4238" cy="1055544"/>
            </a:xfrm>
            <a:custGeom>
              <a:avLst/>
              <a:gdLst/>
              <a:ahLst/>
              <a:cxnLst/>
              <a:rect r="r" b="b" t="t" l="l"/>
              <a:pathLst>
                <a:path h="1055544" w="2834238">
                  <a:moveTo>
                    <a:pt x="30290" y="0"/>
                  </a:moveTo>
                  <a:lnTo>
                    <a:pt x="2803948" y="0"/>
                  </a:lnTo>
                  <a:cubicBezTo>
                    <a:pt x="2820676" y="0"/>
                    <a:pt x="2834238" y="13561"/>
                    <a:pt x="2834238" y="30290"/>
                  </a:cubicBezTo>
                  <a:lnTo>
                    <a:pt x="2834238" y="1025254"/>
                  </a:lnTo>
                  <a:cubicBezTo>
                    <a:pt x="2834238" y="1033287"/>
                    <a:pt x="2831046" y="1040992"/>
                    <a:pt x="2825366" y="1046672"/>
                  </a:cubicBezTo>
                  <a:cubicBezTo>
                    <a:pt x="2819685" y="1052353"/>
                    <a:pt x="2811981" y="1055544"/>
                    <a:pt x="2803948" y="1055544"/>
                  </a:cubicBezTo>
                  <a:lnTo>
                    <a:pt x="30290" y="1055544"/>
                  </a:lnTo>
                  <a:cubicBezTo>
                    <a:pt x="22257" y="1055544"/>
                    <a:pt x="14552" y="1052353"/>
                    <a:pt x="8872" y="1046672"/>
                  </a:cubicBezTo>
                  <a:cubicBezTo>
                    <a:pt x="3191" y="1040992"/>
                    <a:pt x="0" y="1033287"/>
                    <a:pt x="0" y="1025254"/>
                  </a:cubicBezTo>
                  <a:lnTo>
                    <a:pt x="0" y="30290"/>
                  </a:lnTo>
                  <a:cubicBezTo>
                    <a:pt x="0" y="22257"/>
                    <a:pt x="3191" y="14552"/>
                    <a:pt x="8872" y="8872"/>
                  </a:cubicBezTo>
                  <a:cubicBezTo>
                    <a:pt x="14552" y="3191"/>
                    <a:pt x="22257" y="0"/>
                    <a:pt x="302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28" r="0" b="-52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10608" y="5483381"/>
            <a:ext cx="6926420" cy="2616707"/>
            <a:chOff x="0" y="0"/>
            <a:chExt cx="2560212" cy="9672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0212" cy="967213"/>
            </a:xfrm>
            <a:custGeom>
              <a:avLst/>
              <a:gdLst/>
              <a:ahLst/>
              <a:cxnLst/>
              <a:rect r="r" b="b" t="t" l="l"/>
              <a:pathLst>
                <a:path h="967213" w="2560212">
                  <a:moveTo>
                    <a:pt x="33532" y="0"/>
                  </a:moveTo>
                  <a:lnTo>
                    <a:pt x="2526680" y="0"/>
                  </a:lnTo>
                  <a:cubicBezTo>
                    <a:pt x="2535574" y="0"/>
                    <a:pt x="2544102" y="3533"/>
                    <a:pt x="2550391" y="9821"/>
                  </a:cubicBezTo>
                  <a:cubicBezTo>
                    <a:pt x="2556679" y="16110"/>
                    <a:pt x="2560212" y="24639"/>
                    <a:pt x="2560212" y="33532"/>
                  </a:cubicBezTo>
                  <a:lnTo>
                    <a:pt x="2560212" y="933681"/>
                  </a:lnTo>
                  <a:cubicBezTo>
                    <a:pt x="2560212" y="952200"/>
                    <a:pt x="2545199" y="967213"/>
                    <a:pt x="2526680" y="967213"/>
                  </a:cubicBezTo>
                  <a:lnTo>
                    <a:pt x="33532" y="967213"/>
                  </a:lnTo>
                  <a:cubicBezTo>
                    <a:pt x="15013" y="967213"/>
                    <a:pt x="0" y="952200"/>
                    <a:pt x="0" y="933681"/>
                  </a:cubicBezTo>
                  <a:lnTo>
                    <a:pt x="0" y="33532"/>
                  </a:lnTo>
                  <a:cubicBezTo>
                    <a:pt x="0" y="15013"/>
                    <a:pt x="15013" y="0"/>
                    <a:pt x="3353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774" r="0" b="-774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7259160" y="9258300"/>
            <a:ext cx="1028840" cy="1018552"/>
          </a:xfrm>
          <a:custGeom>
            <a:avLst/>
            <a:gdLst/>
            <a:ahLst/>
            <a:cxnLst/>
            <a:rect r="r" b="b" t="t" l="l"/>
            <a:pathLst>
              <a:path h="1018552" w="1028840">
                <a:moveTo>
                  <a:pt x="0" y="0"/>
                </a:moveTo>
                <a:lnTo>
                  <a:pt x="1028840" y="0"/>
                </a:lnTo>
                <a:lnTo>
                  <a:pt x="1028840" y="1018552"/>
                </a:lnTo>
                <a:lnTo>
                  <a:pt x="0" y="101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5483381"/>
            <a:ext cx="7667771" cy="2616707"/>
            <a:chOff x="0" y="0"/>
            <a:chExt cx="2834238" cy="9672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34238" cy="967213"/>
            </a:xfrm>
            <a:custGeom>
              <a:avLst/>
              <a:gdLst/>
              <a:ahLst/>
              <a:cxnLst/>
              <a:rect r="r" b="b" t="t" l="l"/>
              <a:pathLst>
                <a:path h="967213" w="2834238">
                  <a:moveTo>
                    <a:pt x="30290" y="0"/>
                  </a:moveTo>
                  <a:lnTo>
                    <a:pt x="2803948" y="0"/>
                  </a:lnTo>
                  <a:cubicBezTo>
                    <a:pt x="2820676" y="0"/>
                    <a:pt x="2834238" y="13561"/>
                    <a:pt x="2834238" y="30290"/>
                  </a:cubicBezTo>
                  <a:lnTo>
                    <a:pt x="2834238" y="936923"/>
                  </a:lnTo>
                  <a:cubicBezTo>
                    <a:pt x="2834238" y="944956"/>
                    <a:pt x="2831046" y="952661"/>
                    <a:pt x="2825366" y="958341"/>
                  </a:cubicBezTo>
                  <a:cubicBezTo>
                    <a:pt x="2819685" y="964022"/>
                    <a:pt x="2811981" y="967213"/>
                    <a:pt x="2803948" y="967213"/>
                  </a:cubicBezTo>
                  <a:lnTo>
                    <a:pt x="30290" y="967213"/>
                  </a:lnTo>
                  <a:cubicBezTo>
                    <a:pt x="22257" y="967213"/>
                    <a:pt x="14552" y="964022"/>
                    <a:pt x="8872" y="958341"/>
                  </a:cubicBezTo>
                  <a:cubicBezTo>
                    <a:pt x="3191" y="952661"/>
                    <a:pt x="0" y="944956"/>
                    <a:pt x="0" y="936923"/>
                  </a:cubicBezTo>
                  <a:lnTo>
                    <a:pt x="0" y="30290"/>
                  </a:lnTo>
                  <a:cubicBezTo>
                    <a:pt x="0" y="22257"/>
                    <a:pt x="3191" y="14552"/>
                    <a:pt x="8872" y="8872"/>
                  </a:cubicBezTo>
                  <a:cubicBezTo>
                    <a:pt x="14552" y="3191"/>
                    <a:pt x="22257" y="0"/>
                    <a:pt x="3029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5409" r="0" b="-540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475391" y="4419044"/>
            <a:ext cx="3738205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Number Of Orders By Size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04716" y="8396209"/>
            <a:ext cx="3738205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Total Sales By Category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7977" y="4419044"/>
            <a:ext cx="5011817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Top 10 Cities By Number Of Orders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7648" y="8396209"/>
            <a:ext cx="2912475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Sales</a:t>
            </a: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 Channel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64089" y="9075329"/>
            <a:ext cx="1223911" cy="1211671"/>
          </a:xfrm>
          <a:custGeom>
            <a:avLst/>
            <a:gdLst/>
            <a:ahLst/>
            <a:cxnLst/>
            <a:rect r="r" b="b" t="t" l="l"/>
            <a:pathLst>
              <a:path h="1211671" w="1223911">
                <a:moveTo>
                  <a:pt x="0" y="0"/>
                </a:moveTo>
                <a:lnTo>
                  <a:pt x="1223911" y="0"/>
                </a:lnTo>
                <a:lnTo>
                  <a:pt x="1223911" y="1211671"/>
                </a:lnTo>
                <a:lnTo>
                  <a:pt x="0" y="1211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690260"/>
            <a:ext cx="7667771" cy="2855678"/>
            <a:chOff x="0" y="0"/>
            <a:chExt cx="2834238" cy="10555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34238" cy="1055544"/>
            </a:xfrm>
            <a:custGeom>
              <a:avLst/>
              <a:gdLst/>
              <a:ahLst/>
              <a:cxnLst/>
              <a:rect r="r" b="b" t="t" l="l"/>
              <a:pathLst>
                <a:path h="1055544" w="2834238">
                  <a:moveTo>
                    <a:pt x="30290" y="0"/>
                  </a:moveTo>
                  <a:lnTo>
                    <a:pt x="2803948" y="0"/>
                  </a:lnTo>
                  <a:cubicBezTo>
                    <a:pt x="2820676" y="0"/>
                    <a:pt x="2834238" y="13561"/>
                    <a:pt x="2834238" y="30290"/>
                  </a:cubicBezTo>
                  <a:lnTo>
                    <a:pt x="2834238" y="1025254"/>
                  </a:lnTo>
                  <a:cubicBezTo>
                    <a:pt x="2834238" y="1033287"/>
                    <a:pt x="2831046" y="1040992"/>
                    <a:pt x="2825366" y="1046672"/>
                  </a:cubicBezTo>
                  <a:cubicBezTo>
                    <a:pt x="2819685" y="1052353"/>
                    <a:pt x="2811981" y="1055544"/>
                    <a:pt x="2803948" y="1055544"/>
                  </a:cubicBezTo>
                  <a:lnTo>
                    <a:pt x="30290" y="1055544"/>
                  </a:lnTo>
                  <a:cubicBezTo>
                    <a:pt x="22257" y="1055544"/>
                    <a:pt x="14552" y="1052353"/>
                    <a:pt x="8872" y="1046672"/>
                  </a:cubicBezTo>
                  <a:cubicBezTo>
                    <a:pt x="3191" y="1040992"/>
                    <a:pt x="0" y="1033287"/>
                    <a:pt x="0" y="1025254"/>
                  </a:cubicBezTo>
                  <a:lnTo>
                    <a:pt x="0" y="30290"/>
                  </a:lnTo>
                  <a:cubicBezTo>
                    <a:pt x="0" y="22257"/>
                    <a:pt x="3191" y="14552"/>
                    <a:pt x="8872" y="8872"/>
                  </a:cubicBezTo>
                  <a:cubicBezTo>
                    <a:pt x="14552" y="3191"/>
                    <a:pt x="22257" y="0"/>
                    <a:pt x="302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969" r="0" b="-296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56842" y="1690260"/>
            <a:ext cx="7667771" cy="2855678"/>
            <a:chOff x="0" y="0"/>
            <a:chExt cx="2834238" cy="10555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34238" cy="1055544"/>
            </a:xfrm>
            <a:custGeom>
              <a:avLst/>
              <a:gdLst/>
              <a:ahLst/>
              <a:cxnLst/>
              <a:rect r="r" b="b" t="t" l="l"/>
              <a:pathLst>
                <a:path h="1055544" w="2834238">
                  <a:moveTo>
                    <a:pt x="30290" y="0"/>
                  </a:moveTo>
                  <a:lnTo>
                    <a:pt x="2803948" y="0"/>
                  </a:lnTo>
                  <a:cubicBezTo>
                    <a:pt x="2820676" y="0"/>
                    <a:pt x="2834238" y="13561"/>
                    <a:pt x="2834238" y="30290"/>
                  </a:cubicBezTo>
                  <a:lnTo>
                    <a:pt x="2834238" y="1025254"/>
                  </a:lnTo>
                  <a:cubicBezTo>
                    <a:pt x="2834238" y="1033287"/>
                    <a:pt x="2831046" y="1040992"/>
                    <a:pt x="2825366" y="1046672"/>
                  </a:cubicBezTo>
                  <a:cubicBezTo>
                    <a:pt x="2819685" y="1052353"/>
                    <a:pt x="2811981" y="1055544"/>
                    <a:pt x="2803948" y="1055544"/>
                  </a:cubicBezTo>
                  <a:lnTo>
                    <a:pt x="30290" y="1055544"/>
                  </a:lnTo>
                  <a:cubicBezTo>
                    <a:pt x="22257" y="1055544"/>
                    <a:pt x="14552" y="1052353"/>
                    <a:pt x="8872" y="1046672"/>
                  </a:cubicBezTo>
                  <a:cubicBezTo>
                    <a:pt x="3191" y="1040992"/>
                    <a:pt x="0" y="1033287"/>
                    <a:pt x="0" y="1025254"/>
                  </a:cubicBezTo>
                  <a:lnTo>
                    <a:pt x="0" y="30290"/>
                  </a:lnTo>
                  <a:cubicBezTo>
                    <a:pt x="0" y="22257"/>
                    <a:pt x="3191" y="14552"/>
                    <a:pt x="8872" y="8872"/>
                  </a:cubicBezTo>
                  <a:cubicBezTo>
                    <a:pt x="14552" y="3191"/>
                    <a:pt x="22257" y="0"/>
                    <a:pt x="302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701" r="0" b="-370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5611094"/>
            <a:ext cx="7667771" cy="2855678"/>
            <a:chOff x="0" y="0"/>
            <a:chExt cx="2834238" cy="10555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34238" cy="1055544"/>
            </a:xfrm>
            <a:custGeom>
              <a:avLst/>
              <a:gdLst/>
              <a:ahLst/>
              <a:cxnLst/>
              <a:rect r="r" b="b" t="t" l="l"/>
              <a:pathLst>
                <a:path h="1055544" w="2834238">
                  <a:moveTo>
                    <a:pt x="30290" y="0"/>
                  </a:moveTo>
                  <a:lnTo>
                    <a:pt x="2803948" y="0"/>
                  </a:lnTo>
                  <a:cubicBezTo>
                    <a:pt x="2820676" y="0"/>
                    <a:pt x="2834238" y="13561"/>
                    <a:pt x="2834238" y="30290"/>
                  </a:cubicBezTo>
                  <a:lnTo>
                    <a:pt x="2834238" y="1025254"/>
                  </a:lnTo>
                  <a:cubicBezTo>
                    <a:pt x="2834238" y="1033287"/>
                    <a:pt x="2831046" y="1040992"/>
                    <a:pt x="2825366" y="1046672"/>
                  </a:cubicBezTo>
                  <a:cubicBezTo>
                    <a:pt x="2819685" y="1052353"/>
                    <a:pt x="2811981" y="1055544"/>
                    <a:pt x="2803948" y="1055544"/>
                  </a:cubicBezTo>
                  <a:lnTo>
                    <a:pt x="30290" y="1055544"/>
                  </a:lnTo>
                  <a:cubicBezTo>
                    <a:pt x="22257" y="1055544"/>
                    <a:pt x="14552" y="1052353"/>
                    <a:pt x="8872" y="1046672"/>
                  </a:cubicBezTo>
                  <a:cubicBezTo>
                    <a:pt x="3191" y="1040992"/>
                    <a:pt x="0" y="1033287"/>
                    <a:pt x="0" y="1025254"/>
                  </a:cubicBezTo>
                  <a:lnTo>
                    <a:pt x="0" y="30290"/>
                  </a:lnTo>
                  <a:cubicBezTo>
                    <a:pt x="0" y="22257"/>
                    <a:pt x="3191" y="14552"/>
                    <a:pt x="8872" y="8872"/>
                  </a:cubicBezTo>
                  <a:cubicBezTo>
                    <a:pt x="14552" y="3191"/>
                    <a:pt x="22257" y="0"/>
                    <a:pt x="3029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237" r="0" b="-223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39313" y="5611094"/>
            <a:ext cx="8419987" cy="2855678"/>
            <a:chOff x="0" y="0"/>
            <a:chExt cx="3112279" cy="10555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12279" cy="1055544"/>
            </a:xfrm>
            <a:custGeom>
              <a:avLst/>
              <a:gdLst/>
              <a:ahLst/>
              <a:cxnLst/>
              <a:rect r="r" b="b" t="t" l="l"/>
              <a:pathLst>
                <a:path h="1055544" w="3112279">
                  <a:moveTo>
                    <a:pt x="27584" y="0"/>
                  </a:moveTo>
                  <a:lnTo>
                    <a:pt x="3084695" y="0"/>
                  </a:lnTo>
                  <a:cubicBezTo>
                    <a:pt x="3092011" y="0"/>
                    <a:pt x="3099027" y="2906"/>
                    <a:pt x="3104200" y="8079"/>
                  </a:cubicBezTo>
                  <a:cubicBezTo>
                    <a:pt x="3109373" y="13252"/>
                    <a:pt x="3112279" y="20268"/>
                    <a:pt x="3112279" y="27584"/>
                  </a:cubicBezTo>
                  <a:lnTo>
                    <a:pt x="3112279" y="1027960"/>
                  </a:lnTo>
                  <a:cubicBezTo>
                    <a:pt x="3112279" y="1035276"/>
                    <a:pt x="3109373" y="1042292"/>
                    <a:pt x="3104200" y="1047465"/>
                  </a:cubicBezTo>
                  <a:cubicBezTo>
                    <a:pt x="3099027" y="1052638"/>
                    <a:pt x="3092011" y="1055544"/>
                    <a:pt x="3084695" y="1055544"/>
                  </a:cubicBezTo>
                  <a:lnTo>
                    <a:pt x="27584" y="1055544"/>
                  </a:lnTo>
                  <a:cubicBezTo>
                    <a:pt x="20268" y="1055544"/>
                    <a:pt x="13252" y="1052638"/>
                    <a:pt x="8079" y="1047465"/>
                  </a:cubicBezTo>
                  <a:cubicBezTo>
                    <a:pt x="2906" y="1042292"/>
                    <a:pt x="0" y="1035276"/>
                    <a:pt x="0" y="1027960"/>
                  </a:cubicBezTo>
                  <a:lnTo>
                    <a:pt x="0" y="27584"/>
                  </a:lnTo>
                  <a:cubicBezTo>
                    <a:pt x="0" y="20268"/>
                    <a:pt x="2906" y="13252"/>
                    <a:pt x="8079" y="8079"/>
                  </a:cubicBezTo>
                  <a:cubicBezTo>
                    <a:pt x="13252" y="2906"/>
                    <a:pt x="20268" y="0"/>
                    <a:pt x="27584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7093" r="0" b="-709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87835" y="4809097"/>
            <a:ext cx="4092100" cy="334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  <a:spcBef>
                <a:spcPct val="0"/>
              </a:spcBef>
            </a:pPr>
            <a:r>
              <a:rPr lang="en-US" b="true" sz="2582" spc="-116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Number Of Orders By Category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8585" y="8733472"/>
            <a:ext cx="1950601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Monthly</a:t>
            </a: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 Sales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84463" y="4793101"/>
            <a:ext cx="4212529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Order</a:t>
            </a: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 Status Distribution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7861" y="8733472"/>
            <a:ext cx="4213265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79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Sales Distribution by</a:t>
            </a:r>
            <a:r>
              <a:rPr lang="en-US" b="true" sz="2799" spc="-125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 Category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123825"/>
            <a:ext cx="5943506" cy="56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4"/>
              </a:lnSpc>
              <a:spcBef>
                <a:spcPct val="0"/>
              </a:spcBef>
            </a:pPr>
            <a:r>
              <a:rPr lang="en-US" b="true" sz="4515" spc="-203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Explora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t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ory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 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Da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t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a </a:t>
            </a:r>
            <a:r>
              <a:rPr lang="en-US" b="true" sz="4515" spc="-20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E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19075"/>
            <a:ext cx="7003265" cy="9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4"/>
              </a:lnSpc>
              <a:spcBef>
                <a:spcPct val="0"/>
              </a:spcBef>
            </a:pPr>
            <a:r>
              <a:rPr lang="en-US" sz="7915" spc="-356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Business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905" y="2003226"/>
            <a:ext cx="50417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spc="-143" b="true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N</a:t>
            </a: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umbe</a:t>
            </a: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r of Orders by Category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905" y="5574442"/>
            <a:ext cx="471590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spc="-143" b="true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Number of Orders by Size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92152" y="2003226"/>
            <a:ext cx="50417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spc="-143" b="true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Sales Distribution by Category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92152" y="5574442"/>
            <a:ext cx="44521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spc="-143" b="true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To</a:t>
            </a: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tal Sales by C</a:t>
            </a: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ategory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57436"/>
            <a:ext cx="5927685" cy="156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S</a:t>
            </a: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e</a:t>
            </a: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t and Kurta have the highest number of orders pricing for businesses of all sizes.</a:t>
            </a:r>
          </a:p>
          <a:p>
            <a:pPr algn="l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Western Dress comes in third place</a:t>
            </a:r>
          </a:p>
          <a:p>
            <a:pPr algn="l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Dupatta, Bottom, and Saree have the lowest number of orders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2401" y="6366074"/>
            <a:ext cx="5437378" cy="90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889" indent="-221944" lvl="1">
              <a:lnSpc>
                <a:spcPts val="2467"/>
              </a:lnSpc>
              <a:buFont typeface="Arial"/>
              <a:buChar char="•"/>
            </a:pPr>
            <a:r>
              <a:rPr lang="en-US" sz="2055" spc="-92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M is the most ordered size</a:t>
            </a:r>
          </a:p>
          <a:p>
            <a:pPr algn="l" marL="443889" indent="-221944" lvl="1">
              <a:lnSpc>
                <a:spcPts val="2467"/>
              </a:lnSpc>
              <a:buFont typeface="Arial"/>
              <a:buChar char="•"/>
            </a:pPr>
            <a:r>
              <a:rPr lang="en-US" sz="2055" spc="-92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L and XL are also highly demanded</a:t>
            </a:r>
          </a:p>
          <a:p>
            <a:pPr algn="l" marL="443889" indent="-221944" lvl="1">
              <a:lnSpc>
                <a:spcPts val="2467"/>
              </a:lnSpc>
              <a:buFont typeface="Arial"/>
              <a:buChar char="•"/>
            </a:pPr>
            <a:r>
              <a:rPr lang="en-US" sz="2055" spc="-92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4XL, 5XL, 6XL, and Free Size have very low demand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95972" y="2857436"/>
            <a:ext cx="5827583" cy="127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110" indent="-233055" lvl="1">
              <a:lnSpc>
                <a:spcPts val="2590"/>
              </a:lnSpc>
              <a:buFont typeface="Arial"/>
              <a:buChar char="•"/>
            </a:pPr>
            <a:r>
              <a:rPr lang="en-US" sz="2158" spc="-97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Set has the widest price range and several high-value outliers</a:t>
            </a:r>
          </a:p>
          <a:p>
            <a:pPr algn="l" marL="466110" indent="-233055" lvl="1">
              <a:lnSpc>
                <a:spcPts val="2590"/>
              </a:lnSpc>
              <a:buFont typeface="Arial"/>
              <a:buChar char="•"/>
            </a:pPr>
            <a:r>
              <a:rPr lang="en-US" sz="2158" spc="-97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Most categories have moderate prices</a:t>
            </a:r>
          </a:p>
          <a:p>
            <a:pPr algn="l" marL="466110" indent="-233055" lvl="1">
              <a:lnSpc>
                <a:spcPts val="2590"/>
              </a:lnSpc>
              <a:buFont typeface="Arial"/>
              <a:buChar char="•"/>
            </a:pPr>
            <a:r>
              <a:rPr lang="en-US" sz="2158" spc="-97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Dupatta has almost no price variation.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95972" y="6507637"/>
            <a:ext cx="5282569" cy="151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052" indent="-219526" lvl="1">
              <a:lnSpc>
                <a:spcPts val="2440"/>
              </a:lnSpc>
              <a:buFont typeface="Arial"/>
              <a:buChar char="•"/>
            </a:pPr>
            <a:r>
              <a:rPr lang="en-US" sz="2033" spc="-91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Set generates the highest total sales</a:t>
            </a:r>
          </a:p>
          <a:p>
            <a:pPr algn="l" marL="439052" indent="-219526" lvl="1">
              <a:lnSpc>
                <a:spcPts val="2440"/>
              </a:lnSpc>
              <a:buFont typeface="Arial"/>
              <a:buChar char="•"/>
            </a:pPr>
            <a:r>
              <a:rPr lang="en-US" sz="2033" spc="-91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Kurta ranks second</a:t>
            </a:r>
          </a:p>
          <a:p>
            <a:pPr algn="l" marL="439052" indent="-219526" lvl="1">
              <a:lnSpc>
                <a:spcPts val="2440"/>
              </a:lnSpc>
              <a:buFont typeface="Arial"/>
              <a:buChar char="•"/>
            </a:pPr>
            <a:r>
              <a:rPr lang="en-US" sz="2033" spc="-91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Western Dress ranks third</a:t>
            </a:r>
          </a:p>
          <a:p>
            <a:pPr algn="l" marL="439052" indent="-219526" lvl="1">
              <a:lnSpc>
                <a:spcPts val="2440"/>
              </a:lnSpc>
              <a:buFont typeface="Arial"/>
              <a:buChar char="•"/>
            </a:pPr>
            <a:r>
              <a:rPr lang="en-US" sz="2033" spc="-91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The remaining categories contribute much less revenue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923555" y="8908772"/>
            <a:ext cx="1364445" cy="1378228"/>
          </a:xfrm>
          <a:custGeom>
            <a:avLst/>
            <a:gdLst/>
            <a:ahLst/>
            <a:cxnLst/>
            <a:rect r="r" b="b" t="t" l="l"/>
            <a:pathLst>
              <a:path h="1378228" w="1364445">
                <a:moveTo>
                  <a:pt x="0" y="0"/>
                </a:moveTo>
                <a:lnTo>
                  <a:pt x="1364445" y="0"/>
                </a:lnTo>
                <a:lnTo>
                  <a:pt x="1364445" y="1378228"/>
                </a:lnTo>
                <a:lnTo>
                  <a:pt x="0" y="13782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2E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19075"/>
            <a:ext cx="7003265" cy="9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124"/>
              </a:lnSpc>
              <a:spcBef>
                <a:spcPct val="0"/>
              </a:spcBef>
            </a:pPr>
            <a:r>
              <a:rPr lang="en-US" sz="7915" spc="-356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Business Insights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923555" y="8908772"/>
            <a:ext cx="1364445" cy="1378228"/>
          </a:xfrm>
          <a:custGeom>
            <a:avLst/>
            <a:gdLst/>
            <a:ahLst/>
            <a:cxnLst/>
            <a:rect r="r" b="b" t="t" l="l"/>
            <a:pathLst>
              <a:path h="1378228" w="1364445">
                <a:moveTo>
                  <a:pt x="0" y="0"/>
                </a:moveTo>
                <a:lnTo>
                  <a:pt x="1364445" y="0"/>
                </a:lnTo>
                <a:lnTo>
                  <a:pt x="1364445" y="1378228"/>
                </a:lnTo>
                <a:lnTo>
                  <a:pt x="0" y="1378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3507" y="1872147"/>
            <a:ext cx="593625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 Top 10 Cities by Number of Orders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9447" y="2812676"/>
            <a:ext cx="592768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Bengaluru has the highest number of orders</a:t>
            </a:r>
          </a:p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Hyderabad ranks second</a:t>
            </a:r>
          </a:p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Mumbai, New Delhi, and Chennai also contribute significantly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24117" y="4900612"/>
            <a:ext cx="50417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Sal</a:t>
            </a: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e</a:t>
            </a: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s Channel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5488" y="4900612"/>
            <a:ext cx="50417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Order Status Distribution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24117" y="1872147"/>
            <a:ext cx="50417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M</a:t>
            </a:r>
            <a:r>
              <a:rPr lang="en-US" b="true" sz="3199" spc="-143">
                <a:solidFill>
                  <a:srgbClr val="F1F1F1"/>
                </a:solidFill>
                <a:latin typeface="Amiri Bold"/>
                <a:ea typeface="Amiri Bold"/>
                <a:cs typeface="Amiri Bold"/>
                <a:sym typeface="Amiri Bold"/>
              </a:rPr>
              <a:t>onthly Sales Trend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447" y="5843588"/>
            <a:ext cx="592768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Most orders were successfully Shipped</a:t>
            </a:r>
          </a:p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A considerable number were Delivered to Buyer</a:t>
            </a:r>
          </a:p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Cancelled orders represent a noticeable portion</a:t>
            </a:r>
          </a:p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Other order statuses occur much less frequently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8449" y="2803151"/>
            <a:ext cx="610995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1233" indent="-235616" lvl="1">
              <a:lnSpc>
                <a:spcPts val="2619"/>
              </a:lnSpc>
              <a:buFont typeface="Arial"/>
              <a:buChar char="•"/>
            </a:pPr>
            <a:r>
              <a:rPr lang="en-US" sz="2182" spc="-98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Sales increased sharply from March to April</a:t>
            </a:r>
          </a:p>
          <a:p>
            <a:pPr algn="just" marL="471233" indent="-235616" lvl="1">
              <a:lnSpc>
                <a:spcPts val="2619"/>
              </a:lnSpc>
              <a:buFont typeface="Arial"/>
              <a:buChar char="•"/>
            </a:pPr>
            <a:r>
              <a:rPr lang="en-US" sz="2182" spc="-98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Sales decreased slightly during May and June</a:t>
            </a:r>
          </a:p>
          <a:p>
            <a:pPr algn="just" marL="471233" indent="-235616" lvl="1">
              <a:lnSpc>
                <a:spcPts val="2619"/>
              </a:lnSpc>
              <a:buFont typeface="Arial"/>
              <a:buChar char="•"/>
            </a:pPr>
            <a:r>
              <a:rPr lang="en-US" sz="2182" spc="-98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April recorded the highest monthly sales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8449" y="5686425"/>
            <a:ext cx="592768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Nearly 100% of orders come from Amazon.in</a:t>
            </a:r>
          </a:p>
          <a:p>
            <a:pPr algn="just" marL="457174" indent="-228587" lvl="1">
              <a:lnSpc>
                <a:spcPts val="2541"/>
              </a:lnSpc>
              <a:buFont typeface="Arial"/>
              <a:buChar char="•"/>
            </a:pPr>
            <a:r>
              <a:rPr lang="en-US" sz="2117" spc="-95">
                <a:solidFill>
                  <a:srgbClr val="F1F1F1"/>
                </a:solidFill>
                <a:latin typeface="Amiri"/>
                <a:ea typeface="Amiri"/>
                <a:cs typeface="Amiri"/>
                <a:sym typeface="Amiri"/>
              </a:rPr>
              <a:t>Non-Amazon sales represent only a tiny fraction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5901397" y="-4089085"/>
            <a:ext cx="14728591" cy="7530764"/>
          </a:xfrm>
          <a:custGeom>
            <a:avLst/>
            <a:gdLst/>
            <a:ahLst/>
            <a:cxnLst/>
            <a:rect r="r" b="b" t="t" l="l"/>
            <a:pathLst>
              <a:path h="7530764" w="14728591">
                <a:moveTo>
                  <a:pt x="14728590" y="7530764"/>
                </a:moveTo>
                <a:lnTo>
                  <a:pt x="0" y="7530764"/>
                </a:lnTo>
                <a:lnTo>
                  <a:pt x="0" y="0"/>
                </a:lnTo>
                <a:lnTo>
                  <a:pt x="14728590" y="0"/>
                </a:lnTo>
                <a:lnTo>
                  <a:pt x="14728590" y="7530764"/>
                </a:lnTo>
                <a:close/>
              </a:path>
            </a:pathLst>
          </a:custGeom>
          <a:blipFill>
            <a:blip r:embed="rId4"/>
            <a:stretch>
              <a:fillRect l="0" t="-9279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188242" y="6378951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52400"/>
            <a:ext cx="10507615" cy="66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74"/>
              </a:lnSpc>
              <a:spcBef>
                <a:spcPct val="0"/>
              </a:spcBef>
            </a:pPr>
            <a:r>
              <a:rPr lang="en-US" b="true" sz="5415" spc="-243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Interactive Das</a:t>
            </a:r>
            <a:r>
              <a:rPr lang="en-US" b="true" sz="5415" spc="-24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hboard using Streamlit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4505125"/>
            <a:ext cx="8600996" cy="4097976"/>
            <a:chOff x="0" y="0"/>
            <a:chExt cx="2556196" cy="1217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6196" cy="1217909"/>
            </a:xfrm>
            <a:custGeom>
              <a:avLst/>
              <a:gdLst/>
              <a:ahLst/>
              <a:cxnLst/>
              <a:rect r="r" b="b" t="t" l="l"/>
              <a:pathLst>
                <a:path h="1217909" w="2556196">
                  <a:moveTo>
                    <a:pt x="27004" y="0"/>
                  </a:moveTo>
                  <a:lnTo>
                    <a:pt x="2529192" y="0"/>
                  </a:lnTo>
                  <a:cubicBezTo>
                    <a:pt x="2544106" y="0"/>
                    <a:pt x="2556196" y="12090"/>
                    <a:pt x="2556196" y="27004"/>
                  </a:cubicBezTo>
                  <a:lnTo>
                    <a:pt x="2556196" y="1190905"/>
                  </a:lnTo>
                  <a:cubicBezTo>
                    <a:pt x="2556196" y="1205819"/>
                    <a:pt x="2544106" y="1217909"/>
                    <a:pt x="2529192" y="1217909"/>
                  </a:cubicBezTo>
                  <a:lnTo>
                    <a:pt x="27004" y="1217909"/>
                  </a:lnTo>
                  <a:cubicBezTo>
                    <a:pt x="12090" y="1217909"/>
                    <a:pt x="0" y="1205819"/>
                    <a:pt x="0" y="1190905"/>
                  </a:cubicBezTo>
                  <a:lnTo>
                    <a:pt x="0" y="27004"/>
                  </a:lnTo>
                  <a:cubicBezTo>
                    <a:pt x="0" y="12090"/>
                    <a:pt x="12090" y="0"/>
                    <a:pt x="2700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852" r="0" b="-285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28044" y="1743252"/>
            <a:ext cx="8559956" cy="4258217"/>
            <a:chOff x="0" y="0"/>
            <a:chExt cx="3164016" cy="15739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4016" cy="1573965"/>
            </a:xfrm>
            <a:custGeom>
              <a:avLst/>
              <a:gdLst/>
              <a:ahLst/>
              <a:cxnLst/>
              <a:rect r="r" b="b" t="t" l="l"/>
              <a:pathLst>
                <a:path h="1573965" w="3164016">
                  <a:moveTo>
                    <a:pt x="27133" y="0"/>
                  </a:moveTo>
                  <a:lnTo>
                    <a:pt x="3136883" y="0"/>
                  </a:lnTo>
                  <a:cubicBezTo>
                    <a:pt x="3151868" y="0"/>
                    <a:pt x="3164016" y="12148"/>
                    <a:pt x="3164016" y="27133"/>
                  </a:cubicBezTo>
                  <a:lnTo>
                    <a:pt x="3164016" y="1546832"/>
                  </a:lnTo>
                  <a:cubicBezTo>
                    <a:pt x="3164016" y="1561817"/>
                    <a:pt x="3151868" y="1573965"/>
                    <a:pt x="3136883" y="1573965"/>
                  </a:cubicBezTo>
                  <a:lnTo>
                    <a:pt x="27133" y="1573965"/>
                  </a:lnTo>
                  <a:cubicBezTo>
                    <a:pt x="12148" y="1573965"/>
                    <a:pt x="0" y="1561817"/>
                    <a:pt x="0" y="1546832"/>
                  </a:cubicBezTo>
                  <a:lnTo>
                    <a:pt x="0" y="27133"/>
                  </a:lnTo>
                  <a:cubicBezTo>
                    <a:pt x="0" y="12148"/>
                    <a:pt x="12148" y="0"/>
                    <a:pt x="2713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21" r="0" b="-62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099398" y="1434923"/>
            <a:ext cx="3501597" cy="2765402"/>
            <a:chOff x="0" y="0"/>
            <a:chExt cx="749300" cy="5917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9300" cy="591763"/>
            </a:xfrm>
            <a:custGeom>
              <a:avLst/>
              <a:gdLst/>
              <a:ahLst/>
              <a:cxnLst/>
              <a:rect r="r" b="b" t="t" l="l"/>
              <a:pathLst>
                <a:path h="591763" w="749300">
                  <a:moveTo>
                    <a:pt x="406043" y="0"/>
                  </a:moveTo>
                  <a:cubicBezTo>
                    <a:pt x="456604" y="0"/>
                    <a:pt x="493733" y="34289"/>
                    <a:pt x="519123" y="73930"/>
                  </a:cubicBezTo>
                  <a:cubicBezTo>
                    <a:pt x="565194" y="61717"/>
                    <a:pt x="603839" y="65937"/>
                    <a:pt x="634879" y="96323"/>
                  </a:cubicBezTo>
                  <a:cubicBezTo>
                    <a:pt x="660283" y="121194"/>
                    <a:pt x="671469" y="156642"/>
                    <a:pt x="668656" y="192593"/>
                  </a:cubicBezTo>
                  <a:cubicBezTo>
                    <a:pt x="726486" y="225261"/>
                    <a:pt x="759789" y="286384"/>
                    <a:pt x="746322" y="345075"/>
                  </a:cubicBezTo>
                  <a:cubicBezTo>
                    <a:pt x="731303" y="410518"/>
                    <a:pt x="656148" y="452583"/>
                    <a:pt x="588198" y="442015"/>
                  </a:cubicBezTo>
                  <a:cubicBezTo>
                    <a:pt x="568792" y="480887"/>
                    <a:pt x="533853" y="511426"/>
                    <a:pt x="489558" y="522963"/>
                  </a:cubicBezTo>
                  <a:cubicBezTo>
                    <a:pt x="430475" y="538347"/>
                    <a:pt x="371202" y="515691"/>
                    <a:pt x="335965" y="470033"/>
                  </a:cubicBezTo>
                  <a:lnTo>
                    <a:pt x="142923" y="591763"/>
                  </a:lnTo>
                  <a:cubicBezTo>
                    <a:pt x="172361" y="555488"/>
                    <a:pt x="201390" y="522963"/>
                    <a:pt x="210108" y="466631"/>
                  </a:cubicBezTo>
                  <a:cubicBezTo>
                    <a:pt x="185828" y="473997"/>
                    <a:pt x="157677" y="471940"/>
                    <a:pt x="131529" y="458689"/>
                  </a:cubicBezTo>
                  <a:cubicBezTo>
                    <a:pt x="85470" y="435347"/>
                    <a:pt x="64968" y="384010"/>
                    <a:pt x="71703" y="340642"/>
                  </a:cubicBezTo>
                  <a:cubicBezTo>
                    <a:pt x="45479" y="322294"/>
                    <a:pt x="0" y="295818"/>
                    <a:pt x="0" y="233149"/>
                  </a:cubicBezTo>
                  <a:cubicBezTo>
                    <a:pt x="0" y="175042"/>
                    <a:pt x="59552" y="130434"/>
                    <a:pt x="115465" y="131615"/>
                  </a:cubicBezTo>
                  <a:cubicBezTo>
                    <a:pt x="121514" y="107810"/>
                    <a:pt x="134548" y="85911"/>
                    <a:pt x="154177" y="69657"/>
                  </a:cubicBezTo>
                  <a:cubicBezTo>
                    <a:pt x="195812" y="35191"/>
                    <a:pt x="259860" y="41145"/>
                    <a:pt x="294283" y="70983"/>
                  </a:cubicBezTo>
                  <a:cubicBezTo>
                    <a:pt x="318328" y="27431"/>
                    <a:pt x="356627" y="0"/>
                    <a:pt x="406043" y="0"/>
                  </a:cubicBezTo>
                  <a:close/>
                </a:path>
              </a:pathLst>
            </a:custGeom>
            <a:solidFill>
              <a:srgbClr val="054BB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44570"/>
              <a:ext cx="482600" cy="292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2799" spc="-125">
                  <a:solidFill>
                    <a:srgbClr val="FFFFFF"/>
                  </a:solidFill>
                  <a:latin typeface="Amiri Bold"/>
                  <a:ea typeface="Amiri Bold"/>
                  <a:cs typeface="Amiri Bold"/>
                  <a:sym typeface="Amiri Bold"/>
                </a:rPr>
                <a:t>Home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7142747" y="9258300"/>
            <a:ext cx="1145253" cy="1042180"/>
          </a:xfrm>
          <a:custGeom>
            <a:avLst/>
            <a:gdLst/>
            <a:ahLst/>
            <a:cxnLst/>
            <a:rect r="r" b="b" t="t" l="l"/>
            <a:pathLst>
              <a:path h="1042180" w="1145253">
                <a:moveTo>
                  <a:pt x="0" y="0"/>
                </a:moveTo>
                <a:lnTo>
                  <a:pt x="1145253" y="0"/>
                </a:lnTo>
                <a:lnTo>
                  <a:pt x="1145253" y="1042180"/>
                </a:lnTo>
                <a:lnTo>
                  <a:pt x="0" y="1042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2747" y="9258300"/>
            <a:ext cx="1145253" cy="1042180"/>
          </a:xfrm>
          <a:custGeom>
            <a:avLst/>
            <a:gdLst/>
            <a:ahLst/>
            <a:cxnLst/>
            <a:rect r="r" b="b" t="t" l="l"/>
            <a:pathLst>
              <a:path h="1042180" w="1145253">
                <a:moveTo>
                  <a:pt x="0" y="0"/>
                </a:moveTo>
                <a:lnTo>
                  <a:pt x="1145253" y="0"/>
                </a:lnTo>
                <a:lnTo>
                  <a:pt x="1145253" y="1042180"/>
                </a:lnTo>
                <a:lnTo>
                  <a:pt x="0" y="104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4456633"/>
            <a:ext cx="8600996" cy="4097976"/>
            <a:chOff x="0" y="0"/>
            <a:chExt cx="2556196" cy="1217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6196" cy="1217909"/>
            </a:xfrm>
            <a:custGeom>
              <a:avLst/>
              <a:gdLst/>
              <a:ahLst/>
              <a:cxnLst/>
              <a:rect r="r" b="b" t="t" l="l"/>
              <a:pathLst>
                <a:path h="1217909" w="2556196">
                  <a:moveTo>
                    <a:pt x="27004" y="0"/>
                  </a:moveTo>
                  <a:lnTo>
                    <a:pt x="2529192" y="0"/>
                  </a:lnTo>
                  <a:cubicBezTo>
                    <a:pt x="2544106" y="0"/>
                    <a:pt x="2556196" y="12090"/>
                    <a:pt x="2556196" y="27004"/>
                  </a:cubicBezTo>
                  <a:lnTo>
                    <a:pt x="2556196" y="1190905"/>
                  </a:lnTo>
                  <a:cubicBezTo>
                    <a:pt x="2556196" y="1205819"/>
                    <a:pt x="2544106" y="1217909"/>
                    <a:pt x="2529192" y="1217909"/>
                  </a:cubicBezTo>
                  <a:lnTo>
                    <a:pt x="27004" y="1217909"/>
                  </a:lnTo>
                  <a:cubicBezTo>
                    <a:pt x="12090" y="1217909"/>
                    <a:pt x="0" y="1205819"/>
                    <a:pt x="0" y="1190905"/>
                  </a:cubicBezTo>
                  <a:lnTo>
                    <a:pt x="0" y="27004"/>
                  </a:lnTo>
                  <a:cubicBezTo>
                    <a:pt x="0" y="12090"/>
                    <a:pt x="12090" y="0"/>
                    <a:pt x="2700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089" r="0" b="-208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16654" y="1196933"/>
            <a:ext cx="3501597" cy="3361814"/>
            <a:chOff x="0" y="0"/>
            <a:chExt cx="749300" cy="7193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9300" cy="719388"/>
            </a:xfrm>
            <a:custGeom>
              <a:avLst/>
              <a:gdLst/>
              <a:ahLst/>
              <a:cxnLst/>
              <a:rect r="r" b="b" t="t" l="l"/>
              <a:pathLst>
                <a:path h="719388" w="749300">
                  <a:moveTo>
                    <a:pt x="406043" y="0"/>
                  </a:moveTo>
                  <a:cubicBezTo>
                    <a:pt x="456604" y="0"/>
                    <a:pt x="493733" y="41684"/>
                    <a:pt x="519123" y="89874"/>
                  </a:cubicBezTo>
                  <a:cubicBezTo>
                    <a:pt x="565194" y="75027"/>
                    <a:pt x="603839" y="80158"/>
                    <a:pt x="634879" y="117097"/>
                  </a:cubicBezTo>
                  <a:cubicBezTo>
                    <a:pt x="660283" y="147332"/>
                    <a:pt x="671469" y="190425"/>
                    <a:pt x="668656" y="234130"/>
                  </a:cubicBezTo>
                  <a:cubicBezTo>
                    <a:pt x="726486" y="273843"/>
                    <a:pt x="759789" y="348148"/>
                    <a:pt x="746322" y="419496"/>
                  </a:cubicBezTo>
                  <a:cubicBezTo>
                    <a:pt x="731303" y="499054"/>
                    <a:pt x="656148" y="550191"/>
                    <a:pt x="588198" y="537344"/>
                  </a:cubicBezTo>
                  <a:cubicBezTo>
                    <a:pt x="568792" y="584599"/>
                    <a:pt x="533853" y="621725"/>
                    <a:pt x="489558" y="635749"/>
                  </a:cubicBezTo>
                  <a:cubicBezTo>
                    <a:pt x="430475" y="654452"/>
                    <a:pt x="371202" y="626909"/>
                    <a:pt x="335965" y="571405"/>
                  </a:cubicBezTo>
                  <a:lnTo>
                    <a:pt x="142923" y="719388"/>
                  </a:lnTo>
                  <a:cubicBezTo>
                    <a:pt x="172361" y="675290"/>
                    <a:pt x="201390" y="635749"/>
                    <a:pt x="210108" y="567269"/>
                  </a:cubicBezTo>
                  <a:cubicBezTo>
                    <a:pt x="185828" y="576223"/>
                    <a:pt x="157677" y="573723"/>
                    <a:pt x="131529" y="557614"/>
                  </a:cubicBezTo>
                  <a:cubicBezTo>
                    <a:pt x="85470" y="529237"/>
                    <a:pt x="64968" y="466829"/>
                    <a:pt x="71703" y="414108"/>
                  </a:cubicBezTo>
                  <a:cubicBezTo>
                    <a:pt x="45479" y="391803"/>
                    <a:pt x="0" y="359617"/>
                    <a:pt x="0" y="283432"/>
                  </a:cubicBezTo>
                  <a:cubicBezTo>
                    <a:pt x="0" y="212793"/>
                    <a:pt x="59552" y="158565"/>
                    <a:pt x="115465" y="160000"/>
                  </a:cubicBezTo>
                  <a:cubicBezTo>
                    <a:pt x="121514" y="131061"/>
                    <a:pt x="134548" y="104439"/>
                    <a:pt x="154177" y="84680"/>
                  </a:cubicBezTo>
                  <a:cubicBezTo>
                    <a:pt x="195812" y="42781"/>
                    <a:pt x="259860" y="50019"/>
                    <a:pt x="294283" y="86292"/>
                  </a:cubicBezTo>
                  <a:cubicBezTo>
                    <a:pt x="318328" y="33347"/>
                    <a:pt x="356627" y="0"/>
                    <a:pt x="406043" y="0"/>
                  </a:cubicBezTo>
                  <a:close/>
                </a:path>
              </a:pathLst>
            </a:custGeom>
            <a:solidFill>
              <a:srgbClr val="054B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163423"/>
              <a:ext cx="482600" cy="367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2799" spc="-125">
                  <a:solidFill>
                    <a:srgbClr val="FFFFFF"/>
                  </a:solidFill>
                  <a:latin typeface="Amiri Bold"/>
                  <a:ea typeface="Amiri Bold"/>
                  <a:cs typeface="Amiri Bold"/>
                  <a:sym typeface="Amiri Bold"/>
                </a:rPr>
                <a:t>Data Understanding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87004" y="1988699"/>
            <a:ext cx="8600996" cy="4097976"/>
            <a:chOff x="0" y="0"/>
            <a:chExt cx="2556196" cy="12179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6196" cy="1217909"/>
            </a:xfrm>
            <a:custGeom>
              <a:avLst/>
              <a:gdLst/>
              <a:ahLst/>
              <a:cxnLst/>
              <a:rect r="r" b="b" t="t" l="l"/>
              <a:pathLst>
                <a:path h="1217909" w="2556196">
                  <a:moveTo>
                    <a:pt x="27004" y="0"/>
                  </a:moveTo>
                  <a:lnTo>
                    <a:pt x="2529192" y="0"/>
                  </a:lnTo>
                  <a:cubicBezTo>
                    <a:pt x="2544106" y="0"/>
                    <a:pt x="2556196" y="12090"/>
                    <a:pt x="2556196" y="27004"/>
                  </a:cubicBezTo>
                  <a:lnTo>
                    <a:pt x="2556196" y="1190905"/>
                  </a:lnTo>
                  <a:cubicBezTo>
                    <a:pt x="2556196" y="1205819"/>
                    <a:pt x="2544106" y="1217909"/>
                    <a:pt x="2529192" y="1217909"/>
                  </a:cubicBezTo>
                  <a:lnTo>
                    <a:pt x="27004" y="1217909"/>
                  </a:lnTo>
                  <a:cubicBezTo>
                    <a:pt x="12090" y="1217909"/>
                    <a:pt x="0" y="1205819"/>
                    <a:pt x="0" y="1190905"/>
                  </a:cubicBezTo>
                  <a:lnTo>
                    <a:pt x="0" y="27004"/>
                  </a:lnTo>
                  <a:cubicBezTo>
                    <a:pt x="0" y="12090"/>
                    <a:pt x="12090" y="0"/>
                    <a:pt x="2700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089" r="0" b="-208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236704" y="6505621"/>
            <a:ext cx="3501597" cy="350159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54BB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158750"/>
              <a:ext cx="406400" cy="65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2799" spc="-125">
                  <a:solidFill>
                    <a:srgbClr val="FFFFFF"/>
                  </a:solidFill>
                  <a:latin typeface="Amiri Bold"/>
                  <a:ea typeface="Amiri Bold"/>
                  <a:cs typeface="Amiri Bold"/>
                  <a:sym typeface="Amiri Bold"/>
                </a:rPr>
                <a:t>Data Cleaning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0" y="152400"/>
            <a:ext cx="10507615" cy="66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74"/>
              </a:lnSpc>
              <a:spcBef>
                <a:spcPct val="0"/>
              </a:spcBef>
            </a:pPr>
            <a:r>
              <a:rPr lang="en-US" b="true" sz="5415" spc="-243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Interactive Das</a:t>
            </a:r>
            <a:r>
              <a:rPr lang="en-US" b="true" sz="5415" spc="-24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hboard using Streamlit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4097" y="60866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0" y="0"/>
                </a:moveTo>
                <a:lnTo>
                  <a:pt x="14728591" y="0"/>
                </a:lnTo>
                <a:lnTo>
                  <a:pt x="1472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5943506" y="-4029275"/>
            <a:ext cx="14728591" cy="8229600"/>
          </a:xfrm>
          <a:custGeom>
            <a:avLst/>
            <a:gdLst/>
            <a:ahLst/>
            <a:cxnLst/>
            <a:rect r="r" b="b" t="t" l="l"/>
            <a:pathLst>
              <a:path h="8229600" w="14728591">
                <a:moveTo>
                  <a:pt x="147285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4728591" y="0"/>
                </a:lnTo>
                <a:lnTo>
                  <a:pt x="14728591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42747" y="9244820"/>
            <a:ext cx="1145253" cy="1042180"/>
          </a:xfrm>
          <a:custGeom>
            <a:avLst/>
            <a:gdLst/>
            <a:ahLst/>
            <a:cxnLst/>
            <a:rect r="r" b="b" t="t" l="l"/>
            <a:pathLst>
              <a:path h="1042180" w="1145253">
                <a:moveTo>
                  <a:pt x="0" y="0"/>
                </a:moveTo>
                <a:lnTo>
                  <a:pt x="1145253" y="0"/>
                </a:lnTo>
                <a:lnTo>
                  <a:pt x="1145253" y="1042180"/>
                </a:lnTo>
                <a:lnTo>
                  <a:pt x="0" y="104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551741"/>
            <a:ext cx="7140501" cy="3402117"/>
            <a:chOff x="0" y="0"/>
            <a:chExt cx="2556196" cy="12179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56196" cy="1217909"/>
            </a:xfrm>
            <a:custGeom>
              <a:avLst/>
              <a:gdLst/>
              <a:ahLst/>
              <a:cxnLst/>
              <a:rect r="r" b="b" t="t" l="l"/>
              <a:pathLst>
                <a:path h="1217909" w="2556196">
                  <a:moveTo>
                    <a:pt x="32527" y="0"/>
                  </a:moveTo>
                  <a:lnTo>
                    <a:pt x="2523669" y="0"/>
                  </a:lnTo>
                  <a:cubicBezTo>
                    <a:pt x="2541633" y="0"/>
                    <a:pt x="2556196" y="14563"/>
                    <a:pt x="2556196" y="32527"/>
                  </a:cubicBezTo>
                  <a:lnTo>
                    <a:pt x="2556196" y="1185382"/>
                  </a:lnTo>
                  <a:cubicBezTo>
                    <a:pt x="2556196" y="1194009"/>
                    <a:pt x="2552769" y="1202282"/>
                    <a:pt x="2546669" y="1208382"/>
                  </a:cubicBezTo>
                  <a:cubicBezTo>
                    <a:pt x="2540569" y="1214482"/>
                    <a:pt x="2532296" y="1217909"/>
                    <a:pt x="2523669" y="1217909"/>
                  </a:cubicBezTo>
                  <a:lnTo>
                    <a:pt x="32527" y="1217909"/>
                  </a:lnTo>
                  <a:cubicBezTo>
                    <a:pt x="23900" y="1217909"/>
                    <a:pt x="15627" y="1214482"/>
                    <a:pt x="9527" y="1208382"/>
                  </a:cubicBezTo>
                  <a:cubicBezTo>
                    <a:pt x="3427" y="1202282"/>
                    <a:pt x="0" y="1194009"/>
                    <a:pt x="0" y="1185382"/>
                  </a:cubicBezTo>
                  <a:lnTo>
                    <a:pt x="0" y="32527"/>
                  </a:lnTo>
                  <a:cubicBezTo>
                    <a:pt x="0" y="23900"/>
                    <a:pt x="3427" y="15627"/>
                    <a:pt x="9527" y="9527"/>
                  </a:cubicBezTo>
                  <a:cubicBezTo>
                    <a:pt x="15627" y="3427"/>
                    <a:pt x="23900" y="0"/>
                    <a:pt x="3252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81" r="0" b="-18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40501" y="815939"/>
            <a:ext cx="2853033" cy="2510669"/>
            <a:chOff x="0" y="0"/>
            <a:chExt cx="635000" cy="55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" cy="558800"/>
            </a:xfrm>
            <a:custGeom>
              <a:avLst/>
              <a:gdLst/>
              <a:ahLst/>
              <a:cxnLst/>
              <a:rect r="r" b="b" t="t" l="l"/>
              <a:pathLst>
                <a:path h="558800" w="635000">
                  <a:moveTo>
                    <a:pt x="431800" y="0"/>
                  </a:moveTo>
                  <a:cubicBezTo>
                    <a:pt x="542290" y="6350"/>
                    <a:pt x="629920" y="93980"/>
                    <a:pt x="635000" y="203200"/>
                  </a:cubicBezTo>
                  <a:lnTo>
                    <a:pt x="635000" y="259080"/>
                  </a:lnTo>
                  <a:cubicBezTo>
                    <a:pt x="629920" y="367030"/>
                    <a:pt x="542290" y="454660"/>
                    <a:pt x="434340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434340" y="0"/>
                  </a:lnTo>
                  <a:close/>
                </a:path>
              </a:pathLst>
            </a:custGeom>
            <a:solidFill>
              <a:srgbClr val="054B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7950" y="57150"/>
              <a:ext cx="4191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2799" spc="-125">
                  <a:solidFill>
                    <a:srgbClr val="FFFFFF"/>
                  </a:solidFill>
                  <a:latin typeface="Amiri Bold"/>
                  <a:ea typeface="Amiri Bold"/>
                  <a:cs typeface="Amiri Bold"/>
                  <a:sym typeface="Amiri Bold"/>
                </a:rPr>
                <a:t>Feature Engineering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46138" y="2540973"/>
            <a:ext cx="7441862" cy="3545702"/>
            <a:chOff x="0" y="0"/>
            <a:chExt cx="2556196" cy="12179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6196" cy="1217909"/>
            </a:xfrm>
            <a:custGeom>
              <a:avLst/>
              <a:gdLst/>
              <a:ahLst/>
              <a:cxnLst/>
              <a:rect r="r" b="b" t="t" l="l"/>
              <a:pathLst>
                <a:path h="1217909" w="2556196">
                  <a:moveTo>
                    <a:pt x="31210" y="0"/>
                  </a:moveTo>
                  <a:lnTo>
                    <a:pt x="2524986" y="0"/>
                  </a:lnTo>
                  <a:cubicBezTo>
                    <a:pt x="2542223" y="0"/>
                    <a:pt x="2556196" y="13973"/>
                    <a:pt x="2556196" y="31210"/>
                  </a:cubicBezTo>
                  <a:lnTo>
                    <a:pt x="2556196" y="1186699"/>
                  </a:lnTo>
                  <a:cubicBezTo>
                    <a:pt x="2556196" y="1194977"/>
                    <a:pt x="2552908" y="1202915"/>
                    <a:pt x="2547055" y="1208768"/>
                  </a:cubicBezTo>
                  <a:cubicBezTo>
                    <a:pt x="2541202" y="1214621"/>
                    <a:pt x="2533264" y="1217909"/>
                    <a:pt x="2524986" y="1217909"/>
                  </a:cubicBezTo>
                  <a:lnTo>
                    <a:pt x="31210" y="1217909"/>
                  </a:lnTo>
                  <a:cubicBezTo>
                    <a:pt x="13973" y="1217909"/>
                    <a:pt x="0" y="1203936"/>
                    <a:pt x="0" y="1186699"/>
                  </a:cubicBezTo>
                  <a:lnTo>
                    <a:pt x="0" y="31210"/>
                  </a:lnTo>
                  <a:cubicBezTo>
                    <a:pt x="0" y="22932"/>
                    <a:pt x="3288" y="14994"/>
                    <a:pt x="9141" y="9141"/>
                  </a:cubicBezTo>
                  <a:cubicBezTo>
                    <a:pt x="14994" y="3288"/>
                    <a:pt x="22932" y="0"/>
                    <a:pt x="31210" y="0"/>
                  </a:cubicBezTo>
                  <a:close/>
                </a:path>
              </a:pathLst>
            </a:custGeom>
            <a:blipFill>
              <a:blip r:embed="rId5"/>
              <a:stretch>
                <a:fillRect l="-2201" t="0" r="-220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999241" y="6180649"/>
            <a:ext cx="7183632" cy="3585261"/>
            <a:chOff x="0" y="0"/>
            <a:chExt cx="2440271" cy="12179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0271" cy="1217909"/>
            </a:xfrm>
            <a:custGeom>
              <a:avLst/>
              <a:gdLst/>
              <a:ahLst/>
              <a:cxnLst/>
              <a:rect r="r" b="b" t="t" l="l"/>
              <a:pathLst>
                <a:path h="1217909" w="2440271">
                  <a:moveTo>
                    <a:pt x="32331" y="0"/>
                  </a:moveTo>
                  <a:lnTo>
                    <a:pt x="2407940" y="0"/>
                  </a:lnTo>
                  <a:cubicBezTo>
                    <a:pt x="2416515" y="0"/>
                    <a:pt x="2424738" y="3406"/>
                    <a:pt x="2430802" y="9470"/>
                  </a:cubicBezTo>
                  <a:cubicBezTo>
                    <a:pt x="2436865" y="15533"/>
                    <a:pt x="2440271" y="23757"/>
                    <a:pt x="2440271" y="32331"/>
                  </a:cubicBezTo>
                  <a:lnTo>
                    <a:pt x="2440271" y="1185577"/>
                  </a:lnTo>
                  <a:cubicBezTo>
                    <a:pt x="2440271" y="1203434"/>
                    <a:pt x="2425796" y="1217909"/>
                    <a:pt x="2407940" y="1217909"/>
                  </a:cubicBezTo>
                  <a:lnTo>
                    <a:pt x="32331" y="1217909"/>
                  </a:lnTo>
                  <a:cubicBezTo>
                    <a:pt x="14475" y="1217909"/>
                    <a:pt x="0" y="1203434"/>
                    <a:pt x="0" y="1185577"/>
                  </a:cubicBezTo>
                  <a:lnTo>
                    <a:pt x="0" y="32331"/>
                  </a:lnTo>
                  <a:cubicBezTo>
                    <a:pt x="0" y="14475"/>
                    <a:pt x="14475" y="0"/>
                    <a:pt x="32331" y="0"/>
                  </a:cubicBezTo>
                  <a:close/>
                </a:path>
              </a:pathLst>
            </a:custGeom>
            <a:blipFill>
              <a:blip r:embed="rId6"/>
              <a:stretch>
                <a:fillRect l="-459" t="0" r="-459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34970" y="6299611"/>
            <a:ext cx="4864737" cy="3310047"/>
            <a:chOff x="0" y="0"/>
            <a:chExt cx="958465" cy="6521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8465" cy="652156"/>
            </a:xfrm>
            <a:custGeom>
              <a:avLst/>
              <a:gdLst/>
              <a:ahLst/>
              <a:cxnLst/>
              <a:rect r="r" b="b" t="t" l="l"/>
              <a:pathLst>
                <a:path h="652156" w="958465">
                  <a:moveTo>
                    <a:pt x="239386" y="167189"/>
                  </a:moveTo>
                  <a:lnTo>
                    <a:pt x="958465" y="167189"/>
                  </a:lnTo>
                  <a:lnTo>
                    <a:pt x="958465" y="484905"/>
                  </a:lnTo>
                  <a:lnTo>
                    <a:pt x="239373" y="484905"/>
                  </a:lnTo>
                  <a:lnTo>
                    <a:pt x="302255" y="652156"/>
                  </a:lnTo>
                  <a:lnTo>
                    <a:pt x="0" y="326078"/>
                  </a:lnTo>
                  <a:lnTo>
                    <a:pt x="302255" y="0"/>
                  </a:lnTo>
                  <a:lnTo>
                    <a:pt x="239386" y="167189"/>
                  </a:lnTo>
                  <a:close/>
                </a:path>
              </a:pathLst>
            </a:custGeom>
            <a:solidFill>
              <a:srgbClr val="054BB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222250"/>
              <a:ext cx="837815" cy="264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2799" spc="-125">
                  <a:solidFill>
                    <a:srgbClr val="FFFFFF"/>
                  </a:solidFill>
                  <a:latin typeface="Amiri Bold"/>
                  <a:ea typeface="Amiri Bold"/>
                  <a:cs typeface="Amiri Bold"/>
                  <a:sym typeface="Amiri Bold"/>
                </a:rPr>
                <a:t>EDA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94" y="-270333"/>
            <a:ext cx="2598067" cy="25980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54B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203200" y="57150"/>
              <a:ext cx="406400" cy="65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2799" spc="-125">
                  <a:solidFill>
                    <a:srgbClr val="FFFFFF"/>
                  </a:solidFill>
                  <a:latin typeface="Amiri Bold"/>
                  <a:ea typeface="Amiri Bold"/>
                  <a:cs typeface="Amiri Bold"/>
                  <a:sym typeface="Amiri Bold"/>
                </a:rPr>
                <a:t>Business Analysis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0" y="152400"/>
            <a:ext cx="10507615" cy="66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74"/>
              </a:lnSpc>
              <a:spcBef>
                <a:spcPct val="0"/>
              </a:spcBef>
            </a:pPr>
            <a:r>
              <a:rPr lang="en-US" b="true" sz="5415" spc="-243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Interactive Das</a:t>
            </a:r>
            <a:r>
              <a:rPr lang="en-US" b="true" sz="5415" spc="-243" strike="noStrike" u="none">
                <a:solidFill>
                  <a:srgbClr val="000000"/>
                </a:solidFill>
                <a:latin typeface="Amiri Bold"/>
                <a:ea typeface="Amiri Bold"/>
                <a:cs typeface="Amiri Bold"/>
                <a:sym typeface="Amiri Bold"/>
              </a:rPr>
              <a:t>hboard using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DAHRkLVAI2o</dc:identifier>
  <dcterms:modified xsi:type="dcterms:W3CDTF">2011-08-01T06:04:30Z</dcterms:modified>
  <cp:revision>1</cp:revision>
  <dc:title>by : Sarah Saeed</dc:title>
</cp:coreProperties>
</file>